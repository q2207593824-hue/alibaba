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85800" y="1691640"/>
            <a:ext cx="109728" cy="34747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国际站智能运营系统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3063240"/>
            <a:ext cx="73152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>
                <a:solidFill>
                  <a:srgbClr val="D0E4F4"/>
                </a:solidFill>
              </a:defRPr>
            </a:pPr>
            <a:r>
              <a:t>自动发品 · 数据洞察 · 一站运营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A8C0D8"/>
                </a:solidFill>
              </a:defRPr>
            </a:pPr>
            <a:r>
              <a:t>专为阿里巴巴国际站卖家打造</a:t>
            </a:r>
          </a:p>
          <a:p>
            <a:pPr>
              <a:defRPr sz="1500">
                <a:solidFill>
                  <a:srgbClr val="A8C0D8"/>
                </a:solidFill>
              </a:defRPr>
            </a:pPr>
            <a:r>
              <a:t>帮助您的团队更高效地上新、更清晰地做运营决策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566928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88A8C0"/>
                </a:solidFill>
              </a:defRPr>
            </a:pPr>
            <a:r>
              <a:t>产品方案介绍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这是什么？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一款面向国际站卖家的一体化运营工具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将「批量发品、图片处理、数据下载、运营分析」整合在同一套系统中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您通过电脑本地运行，在可视化界面完成配置与任务管理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减少重复登录后台、手工填表、手工导数据的时间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让团队把精力集中在选品、回复询盘和成交上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440680"/>
            <a:ext cx="7955279" cy="658368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400" i="1">
                <a:solidFill>
                  <a:srgbClr val="0F4C81"/>
                </a:solidFill>
              </a:defRPr>
            </a:pPr>
            <a:r>
              <a:t>一句话：帮您把国际站日常运营，做成标准、可复制的流程。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您是否遇到过这些困扰？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1600200"/>
            <a:ext cx="7955279" cy="10515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FF6A00"/>
                </a:solidFill>
              </a:defRPr>
            </a:pPr>
            <a:r>
              <a:t>上架慢</a:t>
            </a:r>
          </a:p>
          <a:p>
            <a:pPr>
              <a:spcBef>
                <a:spcPts val="400"/>
              </a:spcBef>
              <a:defRPr sz="1400">
                <a:solidFill>
                  <a:srgbClr val="222A35"/>
                </a:solidFill>
              </a:defRPr>
            </a:pPr>
            <a:r>
              <a:t>每条链接都要传图、填属性、对价格，占用大量人力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2770632"/>
            <a:ext cx="7955279" cy="10515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FF6A00"/>
                </a:solidFill>
              </a:defRPr>
            </a:pPr>
            <a:r>
              <a:t>跟踪难</a:t>
            </a:r>
          </a:p>
          <a:p>
            <a:pPr>
              <a:spcBef>
                <a:spcPts val="400"/>
              </a:spcBef>
              <a:defRPr sz="1400">
                <a:solidFill>
                  <a:srgbClr val="222A35"/>
                </a:solidFill>
              </a:defRPr>
            </a:pPr>
            <a:r>
              <a:t>新发产品多了，很难持续盯住每一条的表现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3941064"/>
            <a:ext cx="7955279" cy="10515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FF6A00"/>
                </a:solidFill>
              </a:defRPr>
            </a:pPr>
            <a:r>
              <a:t>数据散</a:t>
            </a:r>
          </a:p>
          <a:p>
            <a:pPr>
              <a:spcBef>
                <a:spcPts val="400"/>
              </a:spcBef>
              <a:defRPr sz="1400">
                <a:solidFill>
                  <a:srgbClr val="222A35"/>
                </a:solidFill>
              </a:defRPr>
            </a:pPr>
            <a:r>
              <a:t>参谋、关键词等数据分散在多个表格，整理费时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5111496"/>
            <a:ext cx="7955279" cy="105156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ctr">
              <a:defRPr sz="1800" b="1">
                <a:solidFill>
                  <a:srgbClr val="FF6A00"/>
                </a:solidFill>
              </a:defRPr>
            </a:pPr>
            <a:r>
              <a:t>决策慢</a:t>
            </a:r>
          </a:p>
          <a:p>
            <a:pPr>
              <a:spcBef>
                <a:spcPts val="400"/>
              </a:spcBef>
              <a:defRPr sz="1400">
                <a:solidFill>
                  <a:srgbClr val="222A35"/>
                </a:solidFill>
              </a:defRPr>
            </a:pPr>
            <a:r>
              <a:t>不清楚哪些该加推、哪些该优化，容易凭感觉操作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系统如何帮助您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四大能力，覆盖上新到决策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00200"/>
            <a:ext cx="3977639" cy="1691640"/>
          </a:xfrm>
          <a:prstGeom prst="rect">
            <a:avLst/>
          </a:prstGeom>
          <a:solidFill>
            <a:srgbClr val="F4F7FB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智能发品</a:t>
            </a:r>
          </a:p>
          <a:p>
            <a:pPr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t>批量/定时上架，自动完成图片、属性、价格与发布</a:t>
            </a:r>
          </a:p>
        </p:txBody>
      </p:sp>
      <p:sp>
        <p:nvSpPr>
          <p:cNvPr id="5" name="Rectangle 4"/>
          <p:cNvSpPr/>
          <p:nvPr/>
        </p:nvSpPr>
        <p:spPr>
          <a:xfrm>
            <a:off x="4709160" y="1600200"/>
            <a:ext cx="3977639" cy="1691640"/>
          </a:xfrm>
          <a:prstGeom prst="rect">
            <a:avLst/>
          </a:prstGeom>
          <a:solidFill>
            <a:srgbClr val="F4F7FB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素材管理</a:t>
            </a:r>
          </a:p>
          <a:p>
            <a:pPr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t>图片规范整理，支持 AI 辅助生图与店铺素材采集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474720"/>
            <a:ext cx="3977639" cy="1691640"/>
          </a:xfrm>
          <a:prstGeom prst="rect">
            <a:avLst/>
          </a:prstGeom>
          <a:solidFill>
            <a:srgbClr val="F4F7FB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数据获取</a:t>
            </a:r>
          </a:p>
          <a:p>
            <a:pPr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t>自动采集参谋、关键词、店铺与流量等运营数据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4709160" y="3474720"/>
            <a:ext cx="3977639" cy="1691640"/>
          </a:xfrm>
          <a:prstGeom prst="rect">
            <a:avLst/>
          </a:prstGeom>
          <a:solidFill>
            <a:srgbClr val="F4F7FB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分析看板</a:t>
            </a:r>
          </a:p>
          <a:p>
            <a:pPr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t>综合分析、异动监测、P4P 与推荐关注一目了然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您的使用流程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简单四步，无需复杂技术背景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91640"/>
            <a:ext cx="1920240" cy="4114800"/>
          </a:xfrm>
          <a:prstGeom prst="rect">
            <a:avLst/>
          </a:prstGeom>
          <a:solidFill>
            <a:srgbClr val="F4F7FB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① 准备资料</a:t>
            </a:r>
          </a:p>
          <a:p>
            <a:pPr algn="ctr">
              <a:spcBef>
                <a:spcPts val="1400"/>
              </a:spcBef>
              <a:defRPr sz="1200">
                <a:solidFill>
                  <a:srgbClr val="222A35"/>
                </a:solidFill>
              </a:defRPr>
            </a:pPr>
            <a:r>
              <a:t>按模板整理产品 Excel 与图片素材</a:t>
            </a:r>
          </a:p>
        </p:txBody>
      </p:sp>
      <p:sp>
        <p:nvSpPr>
          <p:cNvPr id="5" name="Rectangle 4"/>
          <p:cNvSpPr/>
          <p:nvPr/>
        </p:nvSpPr>
        <p:spPr>
          <a:xfrm>
            <a:off x="2651760" y="1691640"/>
            <a:ext cx="1920240" cy="4114800"/>
          </a:xfrm>
          <a:prstGeom prst="rect">
            <a:avLst/>
          </a:prstGeom>
          <a:solidFill>
            <a:srgbClr val="F4F7FB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② 配置规则</a:t>
            </a:r>
          </a:p>
          <a:p>
            <a:pPr algn="ctr">
              <a:spcBef>
                <a:spcPts val="1400"/>
              </a:spcBef>
              <a:defRPr sz="1200">
                <a:solidFill>
                  <a:srgbClr val="222A35"/>
                </a:solidFill>
              </a:defRPr>
            </a:pPr>
            <a:r>
              <a:t>在界面中设置路径、属性与价格规则（可协助初始化）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800600" y="1691640"/>
            <a:ext cx="1920240" cy="4114800"/>
          </a:xfrm>
          <a:prstGeom prst="rect">
            <a:avLst/>
          </a:prstGeom>
          <a:solidFill>
            <a:srgbClr val="F4F7FB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③ 一键执行</a:t>
            </a:r>
          </a:p>
          <a:p>
            <a:pPr algn="ctr">
              <a:spcBef>
                <a:spcPts val="1400"/>
              </a:spcBef>
              <a:defRPr sz="1200">
                <a:solidFill>
                  <a:srgbClr val="222A35"/>
                </a:solidFill>
              </a:defRPr>
            </a:pPr>
            <a:r>
              <a:t>启动发品或数据任务，进度实时可见</a:t>
            </a:r>
          </a:p>
        </p:txBody>
      </p:sp>
      <p:sp>
        <p:nvSpPr>
          <p:cNvPr id="7" name="Rectangle 6"/>
          <p:cNvSpPr/>
          <p:nvPr/>
        </p:nvSpPr>
        <p:spPr>
          <a:xfrm>
            <a:off x="6949440" y="1691640"/>
            <a:ext cx="1920240" cy="4114800"/>
          </a:xfrm>
          <a:prstGeom prst="rect">
            <a:avLst/>
          </a:prstGeom>
          <a:solidFill>
            <a:srgbClr val="F4F7FB"/>
          </a:solidFill>
          <a:ln>
            <a:solidFill>
              <a:srgbClr val="0F4C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274320"/>
          <a:lstStyle/>
          <a:p>
            <a:pPr algn="ctr">
              <a:defRPr sz="1700" b="1">
                <a:solidFill>
                  <a:srgbClr val="0F4C81"/>
                </a:solidFill>
              </a:defRPr>
            </a:pPr>
            <a:r>
              <a:t>④ 查看结果</a:t>
            </a:r>
          </a:p>
          <a:p>
            <a:pPr algn="ctr">
              <a:spcBef>
                <a:spcPts val="1400"/>
              </a:spcBef>
              <a:defRPr sz="1200">
                <a:solidFill>
                  <a:srgbClr val="222A35"/>
                </a:solidFill>
              </a:defRPr>
            </a:pPr>
            <a:r>
              <a:t>在分析页与控制台查看该优化、该跟进的商品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989320"/>
            <a:ext cx="7955279" cy="658368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400" i="1">
                <a:solidFill>
                  <a:srgbClr val="0F4C81"/>
                </a:solidFill>
              </a:defRPr>
            </a:pPr>
            <a:r>
              <a:t>支持本机安装使用，数据保存在您的电脑，使用更安心。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智能发品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从表格到上线，自动完成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5448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自动完成：登录、读取产品表、属性填写、图片上传、价格设置、提交发布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支持批量发布与定时发布，灵活匹配您的上新节奏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发布成功后，新产品自动纳入「新发链接」跟踪列表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可配合「产品优化」「视频绑定」等后续运营动作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任务过程透明，随时查看执行进度与结果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新发产品，自动跟踪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不用再手工记录产品编号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每一条成功发布的产品，系统会自动记录产品 ID 与发布日期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结合店铺数据分析，按周曝光等维度筛选表现突出的新品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在控制台「推荐关注」区域集中展示，方便优先跟进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帮助您回答：哪些新品值得加橱窗、加推广、重点优化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5440680"/>
            <a:ext cx="7955279" cy="658368"/>
          </a:xfrm>
          <a:prstGeom prst="rect">
            <a:avLst/>
          </a:prstGeom>
          <a:solidFill>
            <a:srgbClr val="E8F2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>
              <a:defRPr sz="1400" i="1">
                <a:solidFill>
                  <a:srgbClr val="0F4C81"/>
                </a:solidFill>
              </a:defRPr>
            </a:pPr>
            <a:r>
              <a:t>上新之后，也能看得见、跟得上。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运营数据，自动汇总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减少每周手工下载与拼表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50876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可自动获取多类运营数据，例如：</a:t>
            </a:r>
          </a:p>
          <a:p>
            <a:pPr lvl="1">
              <a:spcAft>
                <a:spcPts val="900"/>
              </a:spcAft>
              <a:defRPr sz="1500">
                <a:solidFill>
                  <a:srgbClr val="6B7A8C"/>
                </a:solidFill>
              </a:defRPr>
            </a:pPr>
            <a:r>
              <a:t>  · 产品参谋数据（曝光、点击、询盘等）</a:t>
            </a:r>
          </a:p>
          <a:p>
            <a:pPr lvl="1">
              <a:spcAft>
                <a:spcPts val="900"/>
              </a:spcAft>
              <a:defRPr sz="1500">
                <a:solidFill>
                  <a:srgbClr val="6B7A8C"/>
                </a:solidFill>
              </a:defRPr>
            </a:pPr>
            <a:r>
              <a:t>  · 关键词与行业词数据</a:t>
            </a:r>
          </a:p>
          <a:p>
            <a:pPr lvl="1">
              <a:spcAft>
                <a:spcPts val="900"/>
              </a:spcAft>
              <a:defRPr sz="1500">
                <a:solidFill>
                  <a:srgbClr val="6B7A8C"/>
                </a:solidFill>
              </a:defRPr>
            </a:pPr>
            <a:r>
              <a:t>  · 店铺运营与流量渠道数据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一键运行综合分析，生成统计结果与监控报表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用数据支撑每周运营会议，而不是凭印象开会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分析看板，辅助决策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告诉您「接下来该做什么」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600200"/>
            <a:ext cx="7955279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500">
                <a:solidFill>
                  <a:srgbClr val="222A35"/>
                </a:solidFill>
              </a:defRPr>
            </a:pPr>
            <a:r>
              <a:t>综合分析  —  多维度指标统计，了解全店产品表现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2560320"/>
            <a:ext cx="7955279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500">
                <a:solidFill>
                  <a:srgbClr val="222A35"/>
                </a:solidFill>
              </a:defRPr>
            </a:pPr>
            <a:r>
              <a:t>产品诊断  —  健康度评估，识别需要优化的链接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3520439"/>
            <a:ext cx="7955279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500">
                <a:solidFill>
                  <a:srgbClr val="222A35"/>
                </a:solidFill>
              </a:defRPr>
            </a:pPr>
            <a:r>
              <a:t>P4P 分析  —  区分有效果的推广与低效投放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4480559"/>
            <a:ext cx="7955279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500">
                <a:solidFill>
                  <a:srgbClr val="222A35"/>
                </a:solidFill>
              </a:defRPr>
            </a:pPr>
            <a:r>
              <a:t>异动监测  —  快速发现曝光、点击明显变化的产品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5440679"/>
            <a:ext cx="7955279" cy="86868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/>
          <a:lstStyle/>
          <a:p>
            <a:pPr algn="ctr">
              <a:defRPr sz="1500">
                <a:solidFill>
                  <a:srgbClr val="222A35"/>
                </a:solidFill>
              </a:defRPr>
            </a:pPr>
            <a:r>
              <a:t>推荐关注  —  综合表现优秀 + 潜力新品，优先处理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运营控制台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关键信息，一屏掌握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9164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店铺运营状态总览，快速进入诊断与优化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P4P 投放效果摘要、产品排名与异动提醒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推荐关注清单：该加推、该优化、该跟进的新品</a:t>
            </a:r>
          </a:p>
          <a:p>
            <a:pPr>
              <a:spcAft>
                <a:spcPts val="900"/>
              </a:spcAft>
              <a:defRPr sz="1800">
                <a:solidFill>
                  <a:srgbClr val="222A35"/>
                </a:solidFill>
              </a:defRPr>
            </a:pPr>
            <a:r>
              <a:t>支持将发品、优化、数据下载、分析串联为完整工作流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0" y="1828800"/>
            <a:ext cx="3200400" cy="3474720"/>
          </a:xfrm>
          <a:prstGeom prst="rect">
            <a:avLst/>
          </a:prstGeom>
          <a:solidFill>
            <a:srgbClr val="EAEFF4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94A3B8"/>
                </a:solidFill>
              </a:defRPr>
            </a:pPr>
            <a:r>
              <a:t>系统界面</a:t>
            </a:r>
          </a:p>
          <a:p>
            <a:r>
              <a:t>示意图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图片与素材支持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让上新前的准备更高效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t>图片规范化：统一分组与命名，发品更顺畅</a:t>
            </a:r>
          </a:p>
          <a:p>
            <a:pPr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t>AI 生图：根据配置批量生成主图、场景图（按需使用）</a:t>
            </a:r>
          </a:p>
          <a:p>
            <a:pPr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t>店铺图片采集：整理已有素材，方便复用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适合怎样的店铺？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1691640"/>
            <a:ext cx="3977639" cy="1691640"/>
          </a:xfrm>
          <a:prstGeom prst="rect">
            <a:avLst/>
          </a:prstGeom>
          <a:solidFill>
            <a:srgbClr val="F4F7FB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SKU 较多</a:t>
            </a:r>
          </a:p>
          <a:p>
            <a:pPr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t>需要稳定、高频上新的铺货型店铺</a:t>
            </a:r>
          </a:p>
        </p:txBody>
      </p:sp>
      <p:sp>
        <p:nvSpPr>
          <p:cNvPr id="4" name="Rectangle 3"/>
          <p:cNvSpPr/>
          <p:nvPr/>
        </p:nvSpPr>
        <p:spPr>
          <a:xfrm>
            <a:off x="4709160" y="1691640"/>
            <a:ext cx="3977639" cy="1691640"/>
          </a:xfrm>
          <a:prstGeom prst="rect">
            <a:avLst/>
          </a:prstGeom>
          <a:solidFill>
            <a:srgbClr val="F4F7FB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重视数据</a:t>
            </a:r>
          </a:p>
          <a:p>
            <a:pPr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t>希望用数据指导推广与优化决策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566160"/>
            <a:ext cx="3977639" cy="1691640"/>
          </a:xfrm>
          <a:prstGeom prst="rect">
            <a:avLst/>
          </a:prstGeom>
          <a:solidFill>
            <a:srgbClr val="F4F7FB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团队精干</a:t>
            </a:r>
          </a:p>
          <a:p>
            <a:pPr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t>希望减少重复岗位、提升人效</a:t>
            </a:r>
          </a:p>
        </p:txBody>
      </p:sp>
      <p:sp>
        <p:nvSpPr>
          <p:cNvPr id="6" name="Rectangle 5"/>
          <p:cNvSpPr/>
          <p:nvPr/>
        </p:nvSpPr>
        <p:spPr>
          <a:xfrm>
            <a:off x="4709160" y="3566160"/>
            <a:ext cx="3977639" cy="1691640"/>
          </a:xfrm>
          <a:prstGeom prst="rect">
            <a:avLst/>
          </a:prstGeom>
          <a:solidFill>
            <a:srgbClr val="F4F7FB"/>
          </a:solidFill>
          <a:ln>
            <a:solidFill>
              <a:srgbClr val="D8E2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tIns="128016"/>
          <a:lstStyle/>
          <a:p>
            <a:pPr algn="ctr">
              <a:defRPr sz="1800" b="1">
                <a:solidFill>
                  <a:srgbClr val="0F4C81"/>
                </a:solidFill>
              </a:defRPr>
            </a:pPr>
            <a:r>
              <a:t>多店运营</a:t>
            </a:r>
          </a:p>
          <a:p>
            <a:pPr>
              <a:spcBef>
                <a:spcPts val="800"/>
              </a:spcBef>
              <a:defRPr sz="1200">
                <a:solidFill>
                  <a:srgbClr val="222A35"/>
                </a:solidFill>
              </a:defRPr>
            </a:pPr>
            <a:r>
              <a:t>需要标准化流程、可复制配置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数据与使用安全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我们理解您对账号与数据的关注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002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系统在您本机运行，运营数据主要保存在本地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配置与任务过程可追溯，便于团队内部协作与交接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支持会员账号管理，按授权使用功能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请在平台规则范围内合规使用自动化功能</a:t>
            </a:r>
          </a:p>
          <a:p>
            <a:pPr>
              <a:spcAft>
                <a:spcPts val="900"/>
              </a:spcAft>
              <a:defRPr sz="1700">
                <a:solidFill>
                  <a:srgbClr val="222A35"/>
                </a:solidFill>
              </a:defRPr>
            </a:pPr>
            <a:r>
              <a:t>我们提供安装指导与使用培训，帮助您快速上手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我们提供的服务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87552"/>
            <a:ext cx="7955279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B7A8C"/>
                </a:solidFill>
              </a:defRPr>
            </a:pPr>
            <a:r>
              <a:t>让您用得起来、用得好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77724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t>系统安装与基础配置协助</a:t>
            </a:r>
          </a:p>
          <a:p>
            <a:pPr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t>首次发品陪跑，确保流程跑通</a:t>
            </a:r>
          </a:p>
          <a:p>
            <a:pPr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t>使用培训（界面操作、日常运营节奏建议）</a:t>
            </a:r>
          </a:p>
          <a:p>
            <a:pPr>
              <a:spcAft>
                <a:spcPts val="900"/>
              </a:spcAft>
              <a:defRPr sz="1900">
                <a:solidFill>
                  <a:srgbClr val="222A35"/>
                </a:solidFill>
              </a:defRPr>
            </a:pPr>
            <a:r>
              <a:t>问题响应与版本更新支持（以合同约定为准）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如何开始？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828800"/>
            <a:ext cx="502920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78308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了解演示</a:t>
            </a:r>
          </a:p>
          <a:p>
            <a:pPr>
              <a:defRPr sz="1400">
                <a:solidFill>
                  <a:srgbClr val="222A35"/>
                </a:solidFill>
              </a:defRPr>
            </a:pPr>
            <a:r>
              <a:t>预约在线或现场演示，直观感受系统界面与流程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154680"/>
            <a:ext cx="502920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10896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试用体验</a:t>
            </a:r>
          </a:p>
          <a:p>
            <a:pPr>
              <a:defRPr sz="1400">
                <a:solidFill>
                  <a:srgbClr val="222A35"/>
                </a:solidFill>
              </a:defRPr>
            </a:pPr>
            <a:r>
              <a:t>在试用期内体验核心发品与分析功能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4480560"/>
            <a:ext cx="502920" cy="502920"/>
          </a:xfrm>
          <a:prstGeom prst="rect">
            <a:avLst/>
          </a:prstGeom>
          <a:solidFill>
            <a:srgbClr val="FF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434840"/>
            <a:ext cx="71323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0F4C81"/>
                </a:solidFill>
              </a:defRPr>
            </a:pPr>
            <a:r>
              <a:t>正式使用</a:t>
            </a:r>
          </a:p>
          <a:p>
            <a:pPr>
              <a:defRPr sz="1400">
                <a:solidFill>
                  <a:srgbClr val="222A35"/>
                </a:solidFill>
              </a:defRPr>
            </a:pPr>
            <a:r>
              <a:t>确定方案后完成安装配置，进入日常运营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欢迎进一步了解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017520"/>
            <a:ext cx="69494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D8E8F8"/>
                </a:solidFill>
              </a:defRPr>
            </a:pPr>
            <a:r>
              <a:t>预约产品演示</a:t>
            </a:r>
          </a:p>
          <a:p>
            <a:pPr algn="ctr">
              <a:defRPr sz="2000" b="1">
                <a:solidFill>
                  <a:srgbClr val="D8E8F8"/>
                </a:solidFill>
              </a:defRPr>
            </a:pPr>
            <a:r>
              <a:t>申请试用体验</a:t>
            </a:r>
          </a:p>
          <a:p>
            <a:pPr algn="ctr">
              <a:defRPr sz="1600">
                <a:solidFill>
                  <a:srgbClr val="D8E8F8"/>
                </a:solidFill>
              </a:defRPr>
            </a:pPr>
          </a:p>
          <a:p>
            <a:pPr algn="ctr">
              <a:defRPr sz="1600">
                <a:solidFill>
                  <a:srgbClr val="D8E8F8"/>
                </a:solidFill>
              </a:defRPr>
            </a:pPr>
            <a:r>
              <a:t>服务热线：________________</a:t>
            </a:r>
          </a:p>
          <a:p>
            <a:pPr algn="ctr">
              <a:defRPr sz="1600">
                <a:solidFill>
                  <a:srgbClr val="D8E8F8"/>
                </a:solidFill>
              </a:defRPr>
            </a:pPr>
            <a:r>
              <a:t>微信 / 邮箱：________________</a:t>
            </a:r>
          </a:p>
          <a:p>
            <a:pPr algn="ctr">
              <a:defRPr sz="1600">
                <a:solidFill>
                  <a:srgbClr val="D8E8F8"/>
                </a:solidFill>
              </a:defRPr>
            </a:pPr>
            <a:r>
              <a:t>官方网站：________________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486400"/>
            <a:ext cx="7680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98B8D0"/>
                </a:solidFill>
              </a:defRPr>
            </a:pPr>
            <a:r>
              <a:t>感谢您的关注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4C8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651760"/>
            <a:ext cx="73152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专注国际站运营效率</a:t>
            </a:r>
          </a:p>
          <a:p>
            <a:pPr algn="ctr">
              <a:defRPr sz="3000" b="1">
                <a:solidFill>
                  <a:srgbClr val="FFFFFF"/>
                </a:solidFill>
              </a:defRPr>
            </a:pPr>
            <a:r>
              <a:t>助力您的生意持续增长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