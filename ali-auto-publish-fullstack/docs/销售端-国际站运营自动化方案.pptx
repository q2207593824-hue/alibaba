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1" r:id="rId3"/>
    <p:sldId id="280" r:id="rId4"/>
    <p:sldId id="278" r:id="rId5"/>
    <p:sldId id="282" r:id="rId6"/>
    <p:sldId id="260" r:id="rId7"/>
    <p:sldId id="283" r:id="rId8"/>
    <p:sldId id="284" r:id="rId9"/>
    <p:sldId id="285" r:id="rId10"/>
    <p:sldId id="28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57172" y="723604"/>
            <a:ext cx="8229657" cy="684743"/>
          </a:xfrm>
          <a:prstGeom prst="rect">
            <a:avLst/>
          </a:prstGeom>
          <a:noFill/>
        </p:spPr>
        <p:txBody>
          <a:bodyPr wrap="square" lIns="47625" tIns="19050" rIns="47625" bIns="19050" rtlCol="0" anchor="t" anchorCtr="0">
            <a:normAutofit/>
          </a:bodyPr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800" b="1" spc="22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国际站运营，别再靠人海战术</a:t>
            </a:r>
            <a:endParaRPr sz="3800" b="1" spc="22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 descr="/data/cache/21cea79ff0e1b0a04dfe50b5490cc33a.jpg21cea79ff0e1b0a04dfe50b5490cc33a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1299" b="1299"/>
          <a:stretch>
            <a:fillRect/>
          </a:stretch>
        </p:blipFill>
        <p:spPr>
          <a:xfrm>
            <a:off x="457200" y="2235994"/>
            <a:ext cx="4800600" cy="244316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80" h="4800">
                <a:moveTo>
                  <a:pt x="0" y="0"/>
                </a:moveTo>
                <a:lnTo>
                  <a:pt x="10080" y="0"/>
                </a:lnTo>
                <a:lnTo>
                  <a:pt x="10080" y="4800"/>
                </a:lnTo>
                <a:lnTo>
                  <a:pt x="0" y="4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Title 6"/>
          <p:cNvSpPr txBox="1"/>
          <p:nvPr>
            <p:custDataLst>
              <p:tags r:id="rId4"/>
            </p:custDataLst>
          </p:nvPr>
        </p:nvSpPr>
        <p:spPr>
          <a:xfrm>
            <a:off x="457200" y="5486396"/>
            <a:ext cx="8229600" cy="63309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51460" lvl="0" indent="-2514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200" spc="160" dirty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自动发品与运营管理系统</a:t>
            </a:r>
            <a:endParaRPr sz="1200" spc="160" dirty="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51460" lvl="0" indent="-2514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200" spc="160" dirty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一条链路搞定：上架 · 跟踪 · 下载 · 分析 · 决策</a:t>
            </a:r>
            <a:endParaRPr sz="1200" spc="160" dirty="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11"/>
          <p:cNvSpPr/>
          <p:nvPr>
            <p:custDataLst>
              <p:tags r:id="rId5"/>
            </p:custDataLst>
          </p:nvPr>
        </p:nvSpPr>
        <p:spPr>
          <a:xfrm>
            <a:off x="4572000" y="2266950"/>
            <a:ext cx="4114800" cy="800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90500" dist="50800" dir="5400000" algn="ctr" rotWithShape="0">
              <a:schemeClr val="lt1">
                <a:lumMod val="75000"/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10"/>
          <p:cNvSpPr/>
          <p:nvPr>
            <p:custDataLst>
              <p:tags r:id="rId6"/>
            </p:custDataLst>
          </p:nvPr>
        </p:nvSpPr>
        <p:spPr>
          <a:xfrm>
            <a:off x="4572000" y="3638550"/>
            <a:ext cx="4114800" cy="800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90500" dist="50800" dir="5400000" algn="ctr" rotWithShape="0">
              <a:schemeClr val="lt1">
                <a:lumMod val="75000"/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itle 6"/>
          <p:cNvSpPr txBox="1"/>
          <p:nvPr>
            <p:custDataLst>
              <p:tags r:id="rId7"/>
            </p:custDataLst>
          </p:nvPr>
        </p:nvSpPr>
        <p:spPr>
          <a:xfrm>
            <a:off x="4800600" y="2381250"/>
            <a:ext cx="3657600" cy="5715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sz="1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客户方案 · 销售专用</a:t>
            </a:r>
            <a:endParaRPr sz="14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itle 6"/>
          <p:cNvSpPr txBox="1"/>
          <p:nvPr>
            <p:custDataLst>
              <p:tags r:id="rId8"/>
            </p:custDataLst>
          </p:nvPr>
        </p:nvSpPr>
        <p:spPr>
          <a:xfrm>
            <a:off x="4800600" y="3752850"/>
            <a:ext cx="3657600" cy="5715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sz="1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【可填写】公司名称  |  销售顾问  |  演示日期</a:t>
            </a:r>
            <a:endParaRPr sz="14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任意多边形: 形状 23"/>
          <p:cNvSpPr/>
          <p:nvPr>
            <p:custDataLst>
              <p:tags r:id="rId1"/>
            </p:custDataLst>
          </p:nvPr>
        </p:nvSpPr>
        <p:spPr>
          <a:xfrm>
            <a:off x="-2381" y="557530"/>
            <a:ext cx="4299109" cy="571500"/>
          </a:xfrm>
          <a:custGeom>
            <a:avLst/>
            <a:gdLst>
              <a:gd name="connsiteX0" fmla="*/ 0 w 5034915"/>
              <a:gd name="connsiteY0" fmla="*/ 0 h 761995"/>
              <a:gd name="connsiteX1" fmla="*/ 5034915 w 5034915"/>
              <a:gd name="connsiteY1" fmla="*/ 0 h 761995"/>
              <a:gd name="connsiteX2" fmla="*/ 5034915 w 5034915"/>
              <a:gd name="connsiteY2" fmla="*/ 761995 h 761995"/>
              <a:gd name="connsiteX3" fmla="*/ 0 w 5034915"/>
              <a:gd name="connsiteY3" fmla="*/ 761995 h 761995"/>
              <a:gd name="connsiteX4" fmla="*/ 0 w 5034915"/>
              <a:gd name="connsiteY4" fmla="*/ 0 h 76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4915" h="761995">
                <a:moveTo>
                  <a:pt x="0" y="0"/>
                </a:moveTo>
                <a:lnTo>
                  <a:pt x="5034915" y="0"/>
                </a:lnTo>
                <a:lnTo>
                  <a:pt x="5034915" y="761995"/>
                </a:lnTo>
                <a:lnTo>
                  <a:pt x="0" y="7619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lumMod val="20000"/>
                <a:lumOff val="80000"/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lnSpc>
                <a:spcPct val="120000"/>
              </a:lnSpc>
              <a:buClrTx/>
              <a:buSzTx/>
              <a:buFontTx/>
            </a:pPr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25"/>
          <p:cNvSpPr/>
          <p:nvPr>
            <p:custDataLst>
              <p:tags r:id="rId2"/>
            </p:custDataLst>
          </p:nvPr>
        </p:nvSpPr>
        <p:spPr>
          <a:xfrm>
            <a:off x="4295047" y="557536"/>
            <a:ext cx="338614" cy="571505"/>
          </a:xfrm>
          <a:custGeom>
            <a:avLst/>
            <a:gdLst>
              <a:gd name="connsiteX0" fmla="*/ 0 w 451485"/>
              <a:gd name="connsiteY0" fmla="*/ 0 h 762006"/>
              <a:gd name="connsiteX1" fmla="*/ 105657 w 451485"/>
              <a:gd name="connsiteY1" fmla="*/ 0 h 762006"/>
              <a:gd name="connsiteX2" fmla="*/ 451485 w 451485"/>
              <a:gd name="connsiteY2" fmla="*/ 381003 h 762006"/>
              <a:gd name="connsiteX3" fmla="*/ 105657 w 451485"/>
              <a:gd name="connsiteY3" fmla="*/ 762006 h 762006"/>
              <a:gd name="connsiteX4" fmla="*/ 0 w 451485"/>
              <a:gd name="connsiteY4" fmla="*/ 762006 h 762006"/>
              <a:gd name="connsiteX5" fmla="*/ 0 w 451485"/>
              <a:gd name="connsiteY5" fmla="*/ 761995 h 76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1485" h="762006">
                <a:moveTo>
                  <a:pt x="0" y="0"/>
                </a:moveTo>
                <a:lnTo>
                  <a:pt x="105657" y="0"/>
                </a:lnTo>
                <a:cubicBezTo>
                  <a:pt x="296652" y="0"/>
                  <a:pt x="451485" y="170581"/>
                  <a:pt x="451485" y="381003"/>
                </a:cubicBezTo>
                <a:cubicBezTo>
                  <a:pt x="451485" y="591425"/>
                  <a:pt x="296652" y="762006"/>
                  <a:pt x="105657" y="762006"/>
                </a:cubicBezTo>
                <a:lnTo>
                  <a:pt x="0" y="762006"/>
                </a:lnTo>
                <a:lnTo>
                  <a:pt x="0" y="7619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lumMod val="20000"/>
                <a:lumOff val="80000"/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914400">
              <a:lnSpc>
                <a:spcPct val="120000"/>
              </a:lnSpc>
            </a:pPr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0" y="2266968"/>
            <a:ext cx="9144074" cy="3543329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lnSpc>
                <a:spcPct val="120000"/>
              </a:lnSpc>
            </a:pPr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457172" y="2468906"/>
            <a:ext cx="8229666" cy="0"/>
          </a:xfrm>
          <a:prstGeom prst="line">
            <a:avLst/>
          </a:prstGeom>
          <a:ln w="12700">
            <a:solidFill>
              <a:schemeClr val="lt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>
            <a:off x="457172" y="3261398"/>
            <a:ext cx="8229666" cy="0"/>
          </a:xfrm>
          <a:prstGeom prst="line">
            <a:avLst/>
          </a:prstGeom>
          <a:ln w="12700">
            <a:solidFill>
              <a:schemeClr val="lt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22"/>
          <p:cNvSpPr/>
          <p:nvPr>
            <p:custDataLst>
              <p:tags r:id="rId6"/>
            </p:custDataLst>
          </p:nvPr>
        </p:nvSpPr>
        <p:spPr>
          <a:xfrm>
            <a:off x="-2857" y="704850"/>
            <a:ext cx="4235291" cy="571500"/>
          </a:xfrm>
          <a:custGeom>
            <a:avLst/>
            <a:gdLst>
              <a:gd name="connsiteX0" fmla="*/ 0 w 5034915"/>
              <a:gd name="connsiteY0" fmla="*/ 0 h 761995"/>
              <a:gd name="connsiteX1" fmla="*/ 5034915 w 5034915"/>
              <a:gd name="connsiteY1" fmla="*/ 0 h 761995"/>
              <a:gd name="connsiteX2" fmla="*/ 5034915 w 5034915"/>
              <a:gd name="connsiteY2" fmla="*/ 761995 h 761995"/>
              <a:gd name="connsiteX3" fmla="*/ 0 w 5034915"/>
              <a:gd name="connsiteY3" fmla="*/ 761995 h 761995"/>
              <a:gd name="connsiteX4" fmla="*/ 0 w 5034915"/>
              <a:gd name="connsiteY4" fmla="*/ 0 h 76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4915" h="761995">
                <a:moveTo>
                  <a:pt x="0" y="0"/>
                </a:moveTo>
                <a:lnTo>
                  <a:pt x="5034915" y="0"/>
                </a:lnTo>
                <a:lnTo>
                  <a:pt x="5034915" y="761995"/>
                </a:lnTo>
                <a:lnTo>
                  <a:pt x="0" y="7619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lnSpc>
                <a:spcPct val="120000"/>
              </a:lnSpc>
              <a:buClrTx/>
              <a:buSzTx/>
              <a:buFontTx/>
            </a:pPr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任意多边形: 形状 24"/>
          <p:cNvSpPr/>
          <p:nvPr>
            <p:custDataLst>
              <p:tags r:id="rId7"/>
            </p:custDataLst>
          </p:nvPr>
        </p:nvSpPr>
        <p:spPr>
          <a:xfrm>
            <a:off x="4228848" y="704856"/>
            <a:ext cx="338614" cy="571505"/>
          </a:xfrm>
          <a:custGeom>
            <a:avLst/>
            <a:gdLst>
              <a:gd name="connsiteX0" fmla="*/ 0 w 451485"/>
              <a:gd name="connsiteY0" fmla="*/ 0 h 762006"/>
              <a:gd name="connsiteX1" fmla="*/ 105657 w 451485"/>
              <a:gd name="connsiteY1" fmla="*/ 0 h 762006"/>
              <a:gd name="connsiteX2" fmla="*/ 451485 w 451485"/>
              <a:gd name="connsiteY2" fmla="*/ 381003 h 762006"/>
              <a:gd name="connsiteX3" fmla="*/ 105657 w 451485"/>
              <a:gd name="connsiteY3" fmla="*/ 762006 h 762006"/>
              <a:gd name="connsiteX4" fmla="*/ 0 w 451485"/>
              <a:gd name="connsiteY4" fmla="*/ 762006 h 762006"/>
              <a:gd name="connsiteX5" fmla="*/ 0 w 451485"/>
              <a:gd name="connsiteY5" fmla="*/ 761995 h 76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1485" h="762006">
                <a:moveTo>
                  <a:pt x="0" y="0"/>
                </a:moveTo>
                <a:lnTo>
                  <a:pt x="105657" y="0"/>
                </a:lnTo>
                <a:cubicBezTo>
                  <a:pt x="296652" y="0"/>
                  <a:pt x="451485" y="170581"/>
                  <a:pt x="451485" y="381003"/>
                </a:cubicBezTo>
                <a:cubicBezTo>
                  <a:pt x="451485" y="591425"/>
                  <a:pt x="296652" y="762006"/>
                  <a:pt x="105657" y="762006"/>
                </a:cubicBezTo>
                <a:lnTo>
                  <a:pt x="0" y="762006"/>
                </a:lnTo>
                <a:lnTo>
                  <a:pt x="0" y="7619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914400">
              <a:lnSpc>
                <a:spcPct val="120000"/>
              </a:lnSpc>
            </a:pPr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Title 6"/>
          <p:cNvSpPr txBox="1"/>
          <p:nvPr>
            <p:custDataLst>
              <p:tags r:id="rId8"/>
            </p:custDataLst>
          </p:nvPr>
        </p:nvSpPr>
        <p:spPr>
          <a:xfrm>
            <a:off x="457172" y="1889775"/>
            <a:ext cx="8229657" cy="3657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sz="12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典型国际站卖家的日常</a:t>
            </a:r>
            <a:endParaRPr sz="12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itle 6"/>
          <p:cNvSpPr txBox="1"/>
          <p:nvPr>
            <p:custDataLst>
              <p:tags r:id="rId9"/>
            </p:custDataLst>
          </p:nvPr>
        </p:nvSpPr>
        <p:spPr>
          <a:xfrm>
            <a:off x="457172" y="2682267"/>
            <a:ext cx="8229657" cy="3657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sz="12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销售话术：不是您不努力，是重复劳动把团队精力耗光了。</a:t>
            </a:r>
            <a:endParaRPr sz="12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itle 6"/>
          <p:cNvSpPr txBox="1"/>
          <p:nvPr>
            <p:custDataLst>
              <p:tags r:id="rId10"/>
            </p:custDataLst>
          </p:nvPr>
        </p:nvSpPr>
        <p:spPr>
          <a:xfrm>
            <a:off x="457172" y="3749079"/>
            <a:ext cx="8229657" cy="220789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运营每天泡在后台：传图、整理关键词，写标题，填属性、对价格，一条链接半小时起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店铺 SKU 一多，新人培训成本高，老人一走流程就断档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新发的产品记不全 ID，上了架也不知道后面曝光好不好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参谋数据要人工导，周报靠 Excel 拼，决策总是慢半拍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P4P 在烧钱，但说不清哪些品该加推、哪些该止损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76860" lvl="0" indent="-27686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2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手里好几个脚本，出问题不知道卡在哪一步</a:t>
            </a:r>
            <a:endParaRPr lang="zh-CN" altLang="en-US" sz="12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456791" y="704855"/>
            <a:ext cx="6401467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 lnSpcReduction="10000"/>
          </a:bodyPr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300" b="1" spc="17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您是否也在经历这些？</a:t>
            </a:r>
            <a:endParaRPr sz="3300" b="1" spc="17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我们提供的答案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>
                <a:solidFill>
                  <a:srgbClr val="5A6A7A"/>
                </a:solidFill>
              </a:defRPr>
            </a:pPr>
            <a:r>
              <a:rPr>
                <a:solidFill>
                  <a:srgbClr val="5A6A7A"/>
                </a:solidFill>
              </a:rPr>
              <a:t>一套系统，把国际站运营做成「标准流水线」</a:t>
            </a:r>
            <a:endParaRPr>
              <a:solidFill>
                <a:srgbClr val="5A6A7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 defTabSz="457200">
              <a:defRPr sz="32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省时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rPr>
                <a:solidFill>
                  <a:srgbClr val="FF6A00"/>
                </a:solidFill>
              </a:rPr>
              <a:t>自动发品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rPr>
                <a:solidFill>
                  <a:srgbClr val="FF6A00"/>
                </a:solidFill>
              </a:rPr>
              <a:t>7步流程批量/定时上架</a:t>
            </a:r>
            <a:endParaRPr>
              <a:solidFill>
                <a:srgbClr val="FF6A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8328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 defTabSz="457200">
              <a:defRPr sz="32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省心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rPr>
                <a:solidFill>
                  <a:srgbClr val="FF6A00"/>
                </a:solidFill>
              </a:rPr>
              <a:t>自动跟品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rPr>
                <a:solidFill>
                  <a:srgbClr val="FF6A00"/>
                </a:solidFill>
              </a:rPr>
              <a:t>新发ID自动入库监控</a:t>
            </a:r>
            <a:endParaRPr>
              <a:solidFill>
                <a:srgbClr val="FF6A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63640" y="1920240"/>
            <a:ext cx="265176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 defTabSz="457200">
              <a:defRPr sz="32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省力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rPr>
                <a:solidFill>
                  <a:srgbClr val="FF6A00"/>
                </a:solidFill>
              </a:rPr>
              <a:t>数据决策</a:t>
            </a:r>
            <a:endParaRPr>
              <a:solidFill>
                <a:srgbClr val="FF6A00"/>
              </a:solidFill>
            </a:endParaRPr>
          </a:p>
          <a:p>
            <a:pPr algn="ctr" defTabSz="457200">
              <a:spcBef>
                <a:spcPts val="400"/>
              </a:spcBef>
              <a:defRPr sz="1100">
                <a:solidFill>
                  <a:srgbClr val="5A6A7A"/>
                </a:solidFill>
              </a:defRPr>
            </a:pPr>
            <a:r>
              <a:rPr>
                <a:solidFill>
                  <a:srgbClr val="FF6A00"/>
                </a:solidFill>
              </a:rPr>
              <a:t>下载+分析+看板一体</a:t>
            </a:r>
            <a:endParaRPr>
              <a:solidFill>
                <a:srgbClr val="FF6A00"/>
              </a:solidFill>
            </a:endParaRPr>
          </a:p>
        </p:txBody>
      </p:sp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40080" y="4526280"/>
            <a:ext cx="7863840" cy="121856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1755" tIns="36195" rIns="71755" bIns="36195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38455" lvl="0" indent="-338455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charset="0"/>
              <a:buChar char="Ø"/>
            </a:pPr>
            <a:r>
              <a:rPr sz="14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您只需：按模板准备好图片，配置好规则</a:t>
            </a:r>
            <a:endParaRPr sz="14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38455" lvl="0" indent="-338455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charset="0"/>
              <a:buChar char="Ø"/>
            </a:pPr>
            <a:r>
              <a:rPr sz="14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系统完成：登录、融属性、传图、设价、发布、记新发、拉数据、出分析</a:t>
            </a:r>
            <a:endParaRPr sz="14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38455" lvl="0" indent="-338455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charset="0"/>
              <a:buChar char="Ø"/>
            </a:pPr>
            <a:r>
              <a:rPr sz="14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您得到：该上新的上新，该优化的优化，该加推的加推——有名单、有依据</a:t>
            </a:r>
            <a:endParaRPr sz="14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457200" y="746268"/>
            <a:ext cx="8229600" cy="527208"/>
          </a:xfrm>
          <a:prstGeom prst="rect">
            <a:avLst/>
          </a:prstGeom>
          <a:noFill/>
        </p:spPr>
        <p:txBody>
          <a:bodyPr wrap="square" lIns="47625" tIns="19050" rIns="47625" bIns="19050" rtlCol="0" anchor="t" anchorCtr="0">
            <a:normAutofit lnSpcReduction="10000"/>
          </a:bodyPr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4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使用前 vs 使用后</a:t>
            </a:r>
            <a:endParaRPr sz="3000" b="1" spc="14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0" y="1672494"/>
            <a:ext cx="914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lnSpc>
                <a:spcPct val="120000"/>
              </a:lnSpc>
            </a:pPr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Title 6"/>
          <p:cNvSpPr txBox="1"/>
          <p:nvPr>
            <p:custDataLst>
              <p:tags r:id="rId3"/>
            </p:custDataLst>
          </p:nvPr>
        </p:nvSpPr>
        <p:spPr>
          <a:xfrm>
            <a:off x="457676" y="2503916"/>
            <a:ext cx="3703498" cy="81841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sz="2300" b="1" i="0" spc="15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使用后（系统）</a:t>
            </a:r>
            <a:endParaRPr kumimoji="0" sz="2300" b="1" i="0" spc="150" noProof="0">
              <a:ln w="3175">
                <a:noFill/>
                <a:prstDash val="dash"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itle 6"/>
          <p:cNvSpPr txBox="1"/>
          <p:nvPr>
            <p:custDataLst>
              <p:tags r:id="rId4"/>
            </p:custDataLst>
          </p:nvPr>
        </p:nvSpPr>
        <p:spPr>
          <a:xfrm>
            <a:off x="457200" y="3375205"/>
            <a:ext cx="3703484" cy="233889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批量+定时，夜间跑量白天盯询盘</a:t>
            </a:r>
            <a:endParaRPr sz="13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规则一次配置，全店统一执行</a:t>
            </a:r>
            <a:endParaRPr sz="13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发品成功自动写入监控池</a:t>
            </a:r>
            <a:endParaRPr sz="13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一键下载 + 综合分析出结果</a:t>
            </a:r>
            <a:endParaRPr sz="13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控制台看异动、P4P、推荐名单</a:t>
            </a:r>
            <a:endParaRPr sz="13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itle 6"/>
          <p:cNvSpPr txBox="1"/>
          <p:nvPr>
            <p:custDataLst>
              <p:tags r:id="rId5"/>
            </p:custDataLst>
          </p:nvPr>
        </p:nvSpPr>
        <p:spPr>
          <a:xfrm>
            <a:off x="4503915" y="2503956"/>
            <a:ext cx="4183520" cy="424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sz="2300" b="1" i="0" spc="16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使用前（人工）</a:t>
            </a:r>
            <a:endParaRPr kumimoji="0" sz="2300" b="1" i="0" spc="160" noProof="0">
              <a:ln w="3175">
                <a:noFill/>
                <a:prstDash val="dash"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itle 6"/>
          <p:cNvSpPr txBox="1"/>
          <p:nvPr>
            <p:custDataLst>
              <p:tags r:id="rId6"/>
            </p:custDataLst>
          </p:nvPr>
        </p:nvSpPr>
        <p:spPr>
          <a:xfrm>
            <a:off x="4503439" y="2981106"/>
            <a:ext cx="4183505" cy="27329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同样团队规模，做更多事、做错更少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人每天发 5～10 条已属高效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属性/价格靠记忆，易出错被平台打回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新发品跟踪靠表格手工维护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周报 = 下载 + 复制 + 透视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优化靠经验，难以复盘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lvl="0" indent="-266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3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【销售填写】客户实测：发品效率提升 ____ 倍  |  运营节省 ____ 人天/周</a:t>
            </a:r>
            <a:endParaRPr sz="1300" spc="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三大客户价值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对客户只说结果，不说技术名词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多卖货  |  稳定上新 + 新发监控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持续铺货不中断，高曝光新品及时跟进转化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918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少烧钱  |  P4P/异动/推荐看板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把钱花在有点击、有询盘的品上，低效品早识别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81381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2000" b="1">
                <a:solidFill>
                  <a:srgbClr val="0F4C81"/>
                </a:solidFill>
              </a:defRPr>
            </a:pPr>
            <a:r>
              <a:t>少招人  |  流程标准化</a:t>
            </a:r>
          </a:p>
          <a:p>
            <a:pPr>
              <a:spcBef>
                <a:spcPts val="600"/>
              </a:spcBef>
              <a:defRPr sz="1400">
                <a:solidFill>
                  <a:srgbClr val="1A1A2E"/>
                </a:solidFill>
              </a:defRPr>
            </a:pPr>
            <a:r>
              <a:t>1 套系统顶掉大量重复岗位，团队聚焦选品与谈单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能力一：自动发品中心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itle 6"/>
          <p:cNvSpPr txBox="1"/>
          <p:nvPr>
            <p:custDataLst>
              <p:tags r:id="rId1"/>
            </p:custDataLst>
          </p:nvPr>
        </p:nvSpPr>
        <p:spPr>
          <a:xfrm>
            <a:off x="640080" y="1554480"/>
            <a:ext cx="7863840" cy="228727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1755" tIns="36195" rIns="71755" bIns="36195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批量上架 — 表格导入，自动完成传图、属性、价格、发布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定时上架 — 支持定时/每日定时，错峰发布更自然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发完即建档 — 成功链接自动进入「新发监控」，不用手工记 ID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后续自动化 — 可串联「优化产品」「新品绑视频」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全程可查 — 任务日志实时可见，出问题立刻知道卡在哪一步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34061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把「发品专员」从重复劳动里解放出来。</a:t>
            </a:r>
            <a:endParaRPr>
              <a:solidFill>
                <a:srgbClr val="FF6A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能力二：数据自动采集 + 智能分析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>
                <a:solidFill>
                  <a:srgbClr val="5A6A7A"/>
                </a:solidFill>
              </a:defRPr>
            </a:pPr>
            <a:r>
              <a:rPr>
                <a:solidFill>
                  <a:srgbClr val="5A6A7A"/>
                </a:solidFill>
              </a:rPr>
              <a:t>参谋数据不再靠人工周更</a:t>
            </a:r>
            <a:endParaRPr>
              <a:solidFill>
                <a:srgbClr val="5A6A7A"/>
              </a:solidFill>
            </a:endParaRPr>
          </a:p>
        </p:txBody>
      </p:sp>
      <p:sp>
        <p:nvSpPr>
          <p:cNvPr id="7" name="Title 6"/>
          <p:cNvSpPr txBox="1"/>
          <p:nvPr>
            <p:custDataLst>
              <p:tags r:id="rId1"/>
            </p:custDataLst>
          </p:nvPr>
        </p:nvSpPr>
        <p:spPr>
          <a:xfrm>
            <a:off x="640080" y="1554480"/>
            <a:ext cx="7863840" cy="228727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1755" tIns="36195" rIns="71755" bIns="36195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自动下载 — 产品参谋、关键词、店铺运营、流量渠道等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综合分析 — 曝光/点击/询盘/TM 等多维指标一键统计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决策名单 — P4P 分析、产品异动、综合排名、推荐关注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新发监控 — 按周曝光筛选潜力新品，优先跟进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6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优化建议 — 标题等方向分析，减少「凭感觉改」</a:t>
            </a:r>
            <a:endParaRPr sz="16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46596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老板每周看一张「该干什么」清单，而不是一堆原始表。</a:t>
            </a:r>
            <a:endParaRPr>
              <a:solidFill>
                <a:srgbClr val="FF6A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能力三：图片与素材效率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>
                <a:solidFill>
                  <a:srgbClr val="5A6A7A"/>
                </a:solidFill>
              </a:defRPr>
            </a:pPr>
            <a:r>
              <a:rPr>
                <a:solidFill>
                  <a:srgbClr val="5A6A7A"/>
                </a:solidFill>
              </a:rPr>
              <a:t>上新前的素材准备也能提速</a:t>
            </a:r>
            <a:endParaRPr>
              <a:solidFill>
                <a:srgbClr val="5A6A7A"/>
              </a:solidFill>
            </a:endParaRPr>
          </a:p>
        </p:txBody>
      </p:sp>
      <p:sp>
        <p:nvSpPr>
          <p:cNvPr id="7" name="Title 6"/>
          <p:cNvSpPr txBox="1"/>
          <p:nvPr>
            <p:custDataLst>
              <p:tags r:id="rId1"/>
            </p:custDataLst>
          </p:nvPr>
        </p:nvSpPr>
        <p:spPr>
          <a:xfrm>
            <a:off x="640080" y="1828800"/>
            <a:ext cx="7863840" cy="145923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1755" tIns="36195" rIns="71755" bIns="36195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图片规范化 — 分组管理、命名统一，发品前少折腾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生图 — 批量生成主图/场景图，缩短拍摄与修图周期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店铺图片采集 — 已有素材一键整理复用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322707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 b="1">
                <a:solidFill>
                  <a:srgbClr val="FF6A00"/>
                </a:solidFill>
              </a:defRPr>
            </a:pPr>
            <a:r>
              <a:rPr>
                <a:solidFill>
                  <a:srgbClr val="FF6A00"/>
                </a:solidFill>
              </a:rPr>
              <a:t>缩短「有想法」到「能上架」的时间。</a:t>
            </a:r>
            <a:endParaRPr>
              <a:solidFill>
                <a:srgbClr val="FF6A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能力四：运营驾驶舱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400">
                <a:solidFill>
                  <a:srgbClr val="5A6A7A"/>
                </a:solidFill>
              </a:defRPr>
            </a:pPr>
            <a:r>
              <a:rPr>
                <a:solidFill>
                  <a:srgbClr val="5A6A7A"/>
                </a:solidFill>
              </a:rPr>
              <a:t>一屏回答：今天该盯哪些品？</a:t>
            </a:r>
            <a:endParaRPr>
              <a:solidFill>
                <a:srgbClr val="5A6A7A"/>
              </a:solidFill>
            </a:endParaRPr>
          </a:p>
        </p:txBody>
      </p:sp>
      <p:sp>
        <p:nvSpPr>
          <p:cNvPr id="7" name="Title 6"/>
          <p:cNvSpPr txBox="1"/>
          <p:nvPr>
            <p:custDataLst>
              <p:tags r:id="rId1"/>
            </p:custDataLst>
          </p:nvPr>
        </p:nvSpPr>
        <p:spPr>
          <a:xfrm>
            <a:off x="640080" y="1554480"/>
            <a:ext cx="7863840" cy="284607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1755" tIns="36195" rIns="71755" bIns="36195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店铺诊断 — 快速进入问题与方案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P4P 摘要 — 有询盘 vs 低点击无询盘，投放调整有依据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异动榜单 — 涨跌最明显的 SKU 一眼可见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推荐关注 — 综合评分优秀 + 新发高曝光潜力品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94970" lvl="0" indent="-39497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Wingdings" panose="05000000000000000000" charset="0"/>
              <a:buChar char="ü"/>
            </a:pPr>
            <a:r>
              <a:rPr sz="1800" spc="160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一键串联 — 发品 → 优化 → 绑视频 → 下载 → 分析，全流程可自动化</a:t>
            </a:r>
            <a:endParaRPr sz="1800" spc="160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典型成交场景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对不同客户，强调不同痛点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铺货型卖家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痛点：SKU 多、上新频    →    话术：强调批量发品 + 定时 + 新发监控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3464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成长型店铺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痛点：想放大询盘    →    话术：强调数据分析 + P4P + 推荐关注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6908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代运营公司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痛点：多店铺可复制    →    话术：强调标准流程 + 桌面包交付 + 会员授权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0"/>
            <a:ext cx="8138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FF6A00"/>
                </a:solidFill>
              </a:defRPr>
            </a:pPr>
            <a:r>
              <a:t>老板亲自盯盘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痛点：人少事多    →    话术：强调控制台一屏决策 + 省人力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为什么选择我们？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对比表可直接用于谈判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3716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对比项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508760"/>
            <a:ext cx="32004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纯人工/零散脚本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508760"/>
            <a:ext cx="3200400" cy="475488"/>
          </a:xfrm>
          <a:prstGeom prst="rect">
            <a:avLst/>
          </a:prstGeom>
          <a:solidFill>
            <a:srgbClr val="0F4C81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本系统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84248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发品效率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84248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低、依赖个人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984248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批量+定时+规则复用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出错率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459736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高，难复盘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459736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流程固定，日志可追溯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5224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新发跟踪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935224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手工记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935224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发品成功自动入库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0712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数据更新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410712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每周手工导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410712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自动下载+分析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团队交接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886200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靠人带人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3886200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配置即文档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61688"/>
            <a:ext cx="13716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交付方式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361688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难复制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361688"/>
            <a:ext cx="32004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支持桌面安装包+会员体系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37176"/>
            <a:ext cx="1371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数据安全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837176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分散在多表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4837176"/>
            <a:ext cx="3200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t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本地存储，可私有化部署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客户最关心的四个问题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售前异议处理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Q：会不会很难学？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A：可视化配置，销售可演示「填表→一键发品」；核心操作 1 天内可上手。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Q：阿里改版怎么办？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A：流程模块化维护，元素定位可更新；我们提供持续升级服务（按合同约定）。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Q：数据会不会泄露？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A：默认本机运行、本地 Excel 存储，适合对数据敏感的客户。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Q：适合几个人用？</a:t>
            </a:r>
          </a:p>
          <a:p>
            <a:pPr lvl="1">
              <a:spcAft>
                <a:spcPts val="800"/>
              </a:spcAft>
              <a:defRPr sz="1300">
                <a:solidFill>
                  <a:srgbClr val="1A1A2E"/>
                </a:solidFill>
              </a:defRPr>
            </a:pPr>
            <a:r>
              <a:t>  A：小团队 1～2 人即可跑全店；代运营可多店铺复制配置。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交付与服务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让客户买得放心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交付形态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桌面安装包 — 适合终端客户，双击即用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本机部署 — 适合对数据与网络有要求的团队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会员体系（系统内置）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注册登录、试用期、VIP、充值与积分等能力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支持代理/分发商业模式（可按贵司政策包装）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建议服务包（可写入合同）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远程安装与配置初始化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首次发品陪跑 + 周报模板对接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平台页面变更时的维护升级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合作方案（请销售填写）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报价页务必按公司最新政策更新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体验版  ·  试用 ____ 天  ·  【价格】____ 元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包含：核心发品 + 基础下载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70632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标准版  ·  单店年度  ·  【价格】____ 元/年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包含：发品+分析+看板全功能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41064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旗舰版  ·  单店+陪跑  ·  【价格】____ 元/年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包含：含部署、培训、季度优化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11496"/>
            <a:ext cx="81381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代理/OEM  ·  多店铺分发  ·  【政策】面议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包含：桌面包+授权码+分润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签约后 3 步上手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降低客户决策顾虑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1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1～2 天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安装系统 + 登录配置 + 路径/规则初始化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2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第 3～5 天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试跑 10～20 个 SKU，确认发品与监控正常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260604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2200" b="1">
                <a:solidFill>
                  <a:srgbClr val="FF6A00"/>
                </a:solidFill>
              </a:defRPr>
            </a:pPr>
            <a:r>
              <a:t>第 3 步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F4C81"/>
                </a:solidFill>
              </a:defRPr>
            </a:pPr>
            <a:r>
              <a:t>第 2 周起</a:t>
            </a:r>
          </a:p>
          <a:p>
            <a:pPr algn="ctr">
              <a:spcBef>
                <a:spcPts val="1600"/>
              </a:spcBef>
              <a:defRPr sz="1300">
                <a:solidFill>
                  <a:srgbClr val="1A1A2E"/>
                </a:solidFill>
              </a:defRPr>
            </a:pPr>
            <a:r>
              <a:t>开启定时发品 + 周度数据分析例会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8640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销售承诺模板：____ 个工作日内完成首批发品成功。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客户案例（待补充）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有案例后成交率显著提升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1】行业：________  |  规模：____ SKU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使用前痛点：________________________________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使用后效果：发品效率 ____  |  询盘变化 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客户原话：「________________________________」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2】行业：________  |  规模：____ SKU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使用前痛点：________________________________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• 使用后效果：________________________________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【案例 3】可贴聊天截图 / 数据对比图（建议放本页右侧）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011680"/>
            <a:ext cx="3108960" cy="3840480"/>
          </a:xfrm>
          <a:prstGeom prst="rect">
            <a:avLst/>
          </a:prstGeom>
          <a:solidFill>
            <a:srgbClr val="E8ECF0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6A7A"/>
                </a:solidFill>
              </a:defRPr>
            </a:pPr>
            <a:r>
              <a:t>截图</a:t>
            </a:r>
          </a:p>
          <a:p>
            <a:r>
              <a:t>占位区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现场演示建议流程（15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销售拜访 / 线上演示脚本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① 控制台（2 分钟）— 展示异动、P4P、推荐关注，建立「有决策依据」印象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② 自动发品（5 分钟）— 展示七步流程、定时、实时日志，建立「能落地」印象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③ 新发监控（3 分钟）— 展示发品后自动入库 + 周曝光筛选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④ 数据下载+分析（3 分钟）— 一键任务 + 综合分析结果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⑤ 收尾（2 分钟）— 回到报价页 + 试用/签约政策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9496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A00"/>
                </a:solidFill>
              </a:defRPr>
            </a:pPr>
            <a:r>
              <a:t>演示前务必：登录有效、准备 1 份真实 Excel、确认网络与浏览器正常。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常见拒绝与应对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销售话术备忘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「太贵了」→ 算人力账：1 个运营月薪 vs 系统年费；再问「漏发/错价一次的成本」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「我们自己有脚本」→ 问维护谁、是否含分析看板、新发是否自动跟踪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「先观望」→ 提供试用 + 陪跑 10 条 SKU，用结果说话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「怕封号」→ 强调合规使用、间隔可配置、模拟真人节奏，不承诺排名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「老板不在」→ 留一页「老板版」：三大价值 + 对比表 + 报价，约二次会议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下一步行动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6949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① 预约 15 分钟在线演示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② 申请试用账号（____ 天）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③ 确定合作方案与付款方式</a:t>
            </a:r>
          </a:p>
          <a:p>
            <a:pPr algn="ctr">
              <a:spcAft>
                <a:spcPts val="1200"/>
              </a:spcAft>
              <a:defRPr sz="2000">
                <a:solidFill>
                  <a:srgbClr val="E0EEFA"/>
                </a:solidFill>
              </a:defRPr>
            </a:pPr>
            <a:r>
              <a:t>④ 安排安装陪跑，首周见效果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0CCE4"/>
                </a:solidFill>
              </a:defRPr>
            </a:pPr>
            <a:r>
              <a:t>【请填写】</a:t>
            </a:r>
          </a:p>
          <a:p>
            <a:pPr algn="ctr">
              <a:defRPr sz="1500">
                <a:solidFill>
                  <a:srgbClr val="B0CCE4"/>
                </a:solidFill>
              </a:defRPr>
            </a:pPr>
            <a:r>
              <a:t>销售顾问：________    手机/微信：________</a:t>
            </a:r>
          </a:p>
          <a:p>
            <a:pPr algn="ctr">
              <a:defRPr sz="1500">
                <a:solidFill>
                  <a:srgbClr val="B0CCE4"/>
                </a:solidFill>
              </a:defRPr>
            </a:pPr>
            <a:r>
              <a:t>公司地址：________    官网/演示链接：________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让团队把时间花在询盘和订单上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EC"/>
                </a:solidFill>
              </a:defRPr>
            </a:pPr>
            <a:r>
              <a:t>感谢您的信任 · 期待合作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297_1*a*1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fbbb8eb329d410095bf7f8a8918a72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d573249594a54ccf99346615c0bd81ae"/>
  <p:tag name="KSO_WM_UNIT_TEXT_FILL_FORE_SCHEMECOLOR_INDEX_BRIGHTNESS" val="0"/>
  <p:tag name="KSO_WM_UNIT_TEXT_FILL_FORE_SCHEMECOLOR_INDEX" val="13"/>
  <p:tag name="KSO_WM_UNIT_TEXT_FILL_TYPE" val="1"/>
  <p:tag name="KSO_WM_TEMPLATE_ASSEMBLE_XID" val="60656ef44054ed1e2fb8011c"/>
  <p:tag name="KSO_WM_TEMPLATE_ASSEMBLE_GROUPID" val="60656ef44054ed1e2fb8011c"/>
</p:tagLst>
</file>

<file path=ppt/tags/tag2.xml><?xml version="1.0" encoding="utf-8"?>
<p:tagLst xmlns:p="http://schemas.openxmlformats.org/presentationml/2006/main">
  <p:tag name="KSO_WM_UNIT_VALUE" val="846*1777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3297_1*d*1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f3c38bef3bdc4f1a820b203d81b0a3e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2678211ac5604b20a7c468f09bed61cb"/>
  <p:tag name="KSO_WM_UNIT_PLACING_PICTURE" val="2678211ac5604b20a7c468f09bed61cb"/>
  <p:tag name="KSO_WM_TEMPLATE_ASSEMBLE_XID" val="60656ef44054ed1e2fb8011c"/>
  <p:tag name="KSO_WM_TEMPLATE_ASSEMBLE_GROUPID" val="60656ef44054ed1e2fb8011c"/>
</p:tagLst>
</file>

<file path=ppt/tags/tag3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您的正文已经经简明扼要，字字珠玑，但信息却千丝万缕、错综复杂，需要用更多的文字来表述；但请您尽可能提炼思想的精髓。"/>
  <p:tag name="KSO_WM_UNIT_NOCLEAR" val="1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66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3f812c9f-13f7-45d8-8c0e-9d451a270ebc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3297_1*i*1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a5fee237bdac4dcfa3107b9ec68ca57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CHIP_GROUPID" val="5f5ee1ca4d6848d78f644aec"/>
  <p:tag name="KSO_WM_CHIP_XID" val="5f696413553136823a5e613d"/>
  <p:tag name="KSO_WM_UNIT_FILL_FORE_SCHEMECOLOR_INDEX_BRIGHTNESS" val="0"/>
  <p:tag name="KSO_WM_UNIT_FILL_FORE_SCHEMECOLOR_INDEX" val="16"/>
  <p:tag name="KSO_WM_UNIT_FILL_TYPE" val="1"/>
  <p:tag name="KSO_WM_UNIT_SHADOW_SCHEMECOLOR_INDEX_BRIGHTNESS" val="-0.2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VALUE" val="96"/>
  <p:tag name="KSO_WM_TEMPLATE_ASSEMBLE_XID" val="60656ef44054ed1e2fb8011c"/>
  <p:tag name="KSO_WM_TEMPLATE_ASSEMBLE_GROUPID" val="60656ef44054ed1e2fb8011c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3297_1*i*2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9a8f9b067e804eb19c3c5f7a60cb85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CHIP_GROUPID" val="5f5ee1ca4d6848d78f644aec"/>
  <p:tag name="KSO_WM_CHIP_XID" val="5f696413553136823a5e613d"/>
  <p:tag name="KSO_WM_UNIT_FILL_FORE_SCHEMECOLOR_INDEX_BRIGHTNESS" val="0"/>
  <p:tag name="KSO_WM_UNIT_FILL_FORE_SCHEMECOLOR_INDEX" val="16"/>
  <p:tag name="KSO_WM_UNIT_FILL_TYPE" val="1"/>
  <p:tag name="KSO_WM_UNIT_SHADOW_SCHEMECOLOR_INDEX_BRIGHTNESS" val="-0.2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VALUE" val="96"/>
  <p:tag name="KSO_WM_TEMPLATE_ASSEMBLE_XID" val="60656ef44054ed1e2fb8011c"/>
  <p:tag name="KSO_WM_TEMPLATE_ASSEMBLE_GROUPID" val="60656ef44054ed1e2fb8011c"/>
</p:tagLst>
</file>

<file path=ppt/tags/tag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297_1*f*1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8"/>
  <p:tag name="KSO_WM_UNIT_SHOW_EDIT_AREA_INDICATION" val="1"/>
  <p:tag name="KSO_WM_CHIP_GROUPID" val="5e6b05596848fb12bee65ac8"/>
  <p:tag name="KSO_WM_CHIP_XID" val="5e6b05596848fb12bee65aca"/>
  <p:tag name="KSO_WM_UNIT_DEC_AREA_ID" val="dbce6422b93c4b91b9a24c8ba18f1b1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3360ea22798428789f14f8b7e4024be"/>
  <p:tag name="KSO_WM_UNIT_TEXT_FILL_FORE_SCHEMECOLOR_INDEX_BRIGHTNESS" val="0.25"/>
  <p:tag name="KSO_WM_UNIT_TEXT_FILL_FORE_SCHEMECOLOR_INDEX" val="13"/>
  <p:tag name="KSO_WM_UNIT_TEXT_FILL_TYPE" val="1"/>
  <p:tag name="KSO_WM_TEMPLATE_ASSEMBLE_XID" val="60656ef44054ed1e2fb8011c"/>
  <p:tag name="KSO_WM_TEMPLATE_ASSEMBLE_GROUPID" val="60656ef44054ed1e2fb8011c"/>
</p:tagLst>
</file>

<file path=ppt/tags/tag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diagram20213297_1*f*3"/>
  <p:tag name="KSO_WM_TEMPLATE_CATEGORY" val="diagram"/>
  <p:tag name="KSO_WM_TEMPLATE_INDEX" val="2021329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8"/>
  <p:tag name="KSO_WM_UNIT_SHOW_EDIT_AREA_INDICATION" val="1"/>
  <p:tag name="KSO_WM_CHIP_GROUPID" val="5e6b05596848fb12bee65ac8"/>
  <p:tag name="KSO_WM_CHIP_XID" val="5e6b05596848fb12bee65aca"/>
  <p:tag name="KSO_WM_UNIT_DEC_AREA_ID" val="9d2fb45eb48a47a3bcd98f092383a7c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2c95b3b7102248dcac731bd00bd1f563"/>
  <p:tag name="KSO_WM_UNIT_TEXT_FILL_FORE_SCHEMECOLOR_INDEX_BRIGHTNESS" val="0.25"/>
  <p:tag name="KSO_WM_UNIT_TEXT_FILL_FORE_SCHEMECOLOR_INDEX" val="13"/>
  <p:tag name="KSO_WM_UNIT_TEXT_FILL_TYPE" val="1"/>
  <p:tag name="KSO_WM_TEMPLATE_ASSEMBLE_XID" val="60656ef44054ed1e2fb8011c"/>
  <p:tag name="KSO_WM_TEMPLATE_ASSEMBLE_GROUPID" val="60656ef44054ed1e2fb8011c"/>
</p:tagLst>
</file>

<file path=ppt/tags/tag8.xml><?xml version="1.0" encoding="utf-8"?>
<p:tagLst xmlns:p="http://schemas.openxmlformats.org/presentationml/2006/main">
  <p:tag name="KSO_WM_SLIDE_ID" val="diagram2021329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64*408"/>
  <p:tag name="KSO_WM_SLIDE_POSITION" val="48*48"/>
  <p:tag name="KSO_WM_TAG_VERSION" val="1.0"/>
  <p:tag name="KSO_WM_BEAUTIFY_FLAG" val="#wm#"/>
  <p:tag name="KSO_WM_TEMPLATE_CATEGORY" val="diagram"/>
  <p:tag name="KSO_WM_TEMPLATE_INDEX" val="20213297"/>
  <p:tag name="KSO_WM_SLIDE_LAYOUT" val="a_d_f"/>
  <p:tag name="KSO_WM_SLIDE_LAYOUT_CNT" val="1_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22:00&quot;,&quot;maxSize&quot;:{&quot;size1&quot;:22.2},&quot;minSize&quot;:{&quot;size1&quot;:17.8},&quot;normalSize&quot;:{&quot;size1&quot;:22.2},&quot;subLayout&quot;:[{&quot;id&quot;:&quot;2021-04-01T15:22:00&quot;,&quot;margin&quot;:{&quot;bottom&quot;:0,&quot;left&quot;:1.2697499990463257,&quot;right&quot;:1.2697499990463257,&quot;top&quot;:1.6929999589920044},&quot;type&quot;:0},{&quot;id&quot;:&quot;2021-04-01T15:22:00&quot;,&quot;maxSize&quot;:{&quot;size1&quot;:71.4},&quot;minSize&quot;:{&quot;size1&quot;:63},&quot;normalSize&quot;:{&quot;size1&quot;:66.92744930019995},&quot;subLayout&quot;:[{&quot;direction&quot;:1,&quot;id&quot;:&quot;2021-04-01T15:22:00&quot;,&quot;maxSize&quot;:{&quot;size1&quot;:57.6},&quot;minSize&quot;:{&quot;size1&quot;:57.6},&quot;normalSize&quot;:{&quot;size1&quot;:57.6},&quot;subLayout&quot;:[{&quot;id&quot;:&quot;2021-04-01T15:22:00&quot;,&quot;margin&quot;:{&quot;bottom&quot;:0.02600000612437725,&quot;left&quot;:1.2697499990463257,&quot;right&quot;:0.01950000412762165,&quot;top&quot;:0.847000002861023},&quot;type&quot;:0},{&quot;id&quot;:&quot;2021-04-01T15:22:00&quot;,&quot;type&quot;:0}],&quot;type&quot;:0},{&quot;id&quot;:&quot;2021-04-01T15:22:00&quot;,&quot;margin&quot;:{&quot;bottom&quot;:1.6929999589920044,&quot;left&quot;:1.2697499990463257,&quot;right&quot;:1.2697499990463257,&quot;top&quot;:0.8199999928474426},&quot;type&quot;:0}],&quot;type&quot;:0}],&quot;type&quot;:0}"/>
  <p:tag name="KSO_WM_SLIDE_CAN_ADD_NAVIGATION" val="1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tru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413553136823a5e613d"/>
  <p:tag name="KSO_WM_CHIP_FILLPROP" val="[[{&quot;text_align&quot;:&quot;lt&quot;,&quot;text_direction&quot;:&quot;horizontal&quot;,&quot;support_big_font&quot;:false,&quot;fill_id&quot;:&quot;fbc1d1c81b9c4bca8f09873cfc4ac6db&quot;,&quot;fill_align&quot;:&quot;lt&quot;,&quot;chip_types&quot;:[&quot;header&quot;]},{&quot;text_align&quot;:&quot;lm&quot;,&quot;text_direction&quot;:&quot;horizontal&quot;,&quot;support_big_font&quot;:false,&quot;fill_id&quot;:&quot;bccf51e438204108baa5744c19d4ffd7&quot;,&quot;fill_align&quot;:&quot;lm&quot;,&quot;chip_types&quot;:[&quot;picture&quot;]},{&quot;text_align&quot;:&quot;lm&quot;,&quot;text_direction&quot;:&quot;horizontal&quot;,&quot;support_big_font&quot;:false,&quot;fill_id&quot;:&quot;5aef0bfc64a44bc8a89cf20b5fcd2c3e&quot;,&quot;fill_align&quot;:&quot;lm&quot;,&quot;chip_types&quot;:[&quot;text&quot;]},{&quot;text_align&quot;:&quot;lm&quot;,&quot;text_direction&quot;:&quot;horizontal&quot;,&quot;support_big_font&quot;:false,&quot;fill_id&quot;:&quot;c399b626458b4f5c9c8b136f10baff16&quot;,&quot;fill_align&quot;:&quot;lm&quot;,&quot;chip_types&quot;:[&quot;text&quot;]},{&quot;text_align&quot;:&quot;lm&quot;,&quot;text_direction&quot;:&quot;horizontal&quot;,&quot;support_big_font&quot;:false,&quot;fill_id&quot;:&quot;56e9763a1fc740b99ef06c299c10d13d&quot;,&quot;fill_align&quot;:&quot;lm&quot;,&quot;chip_types&quot;:[&quot;text&quot;]}]]"/>
  <p:tag name="FIXED_XID_TMP" val="5f5ee1ca4d6848d78f644aec"/>
  <p:tag name="KSO_WM_CHIP_DECFILLPROP" val="[]"/>
  <p:tag name="KSO_WM_CHIP_GROUPID" val="5f5ee1ca4d6848d78f644aec"/>
  <p:tag name="KSO_WM_SLIDE_BK_DARK_LIGHT" val="2"/>
  <p:tag name="KSO_WM_SLIDE_BACKGROUND_TYPE" val="general"/>
  <p:tag name="KSO_WM_SLIDE_SUPPORT_FEATURE_TYPE" val="0"/>
  <p:tag name="KSO_WM_SLIDE_SAME_FONT_SIZE" val="1"/>
  <p:tag name="KSO_WM_TEMPLATE_ASSEMBLE_XID" val="60656ef44054ed1e2fb8011c"/>
  <p:tag name="KSO_WM_TEMPLATE_ASSEMBLE_GROUPID" val="60656ef44054ed1e2fb8011c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885_1*i*1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a0c7f461fec44b06b66a0c17a24fe167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56f28face7644a71892f6958bc686511&quot;,&quot;X&quot;:{&quot;Pos&quot;:0},&quot;Y&quot;:{&quot;Pos&quot;:0}},&quot;whChangeMode&quot;:0}"/>
  <p:tag name="KSO_WM_CHIP_GROUPID" val="5ef2f3acf1c417157da4516a"/>
  <p:tag name="KSO_WM_CHIP_XID" val="5ef2f3acf1c417157da4516b"/>
  <p:tag name="KSO_WM_UNIT_FILL_FORE_SCHEMECOLOR_INDEX_BRIGHTNESS" val="0.8"/>
  <p:tag name="KSO_WM_UNIT_FILL_FORE_SCHEMECOLOR_INDEX" val="5"/>
  <p:tag name="KSO_WM_UNIT_FILL_TYPE" val="1"/>
  <p:tag name="KSO_WM_UNIT_SHADOW_SCHEMECOLOR_INDEX_BRIGHTNESS" val="0.8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VALUE" val="50"/>
  <p:tag name="KSO_WM_TEMPLATE_ASSEMBLE_XID" val="60656e814054ed1e2fb7fa18"/>
  <p:tag name="KSO_WM_TEMPLATE_ASSEMBLE_GROUPID" val="60656e814054ed1e2fb7fa18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885_1*i*2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b49f1d16c50f49c692af9a612da7a7aa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d3f4c700c32f4b1ba2d89d2946ae68e7&quot;,&quot;X&quot;:{&quot;Pos&quot;:0},&quot;Y&quot;:{&quot;Pos&quot;:0}},&quot;whChangeMode&quot;:0}"/>
  <p:tag name="KSO_WM_CHIP_GROUPID" val="5ef2f3acf1c417157da4516a"/>
  <p:tag name="KSO_WM_CHIP_XID" val="5ef2f3acf1c417157da4516b"/>
  <p:tag name="KSO_WM_UNIT_FILL_FORE_SCHEMECOLOR_INDEX_BRIGHTNESS" val="0.8"/>
  <p:tag name="KSO_WM_UNIT_FILL_FORE_SCHEMECOLOR_INDEX" val="5"/>
  <p:tag name="KSO_WM_UNIT_FILL_TYPE" val="1"/>
  <p:tag name="KSO_WM_UNIT_SHADOW_SCHEMECOLOR_INDEX_BRIGHTNESS" val="0.8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814054ed1e2fb7fa18"/>
  <p:tag name="KSO_WM_TEMPLATE_ASSEMBLE_GROUPID" val="60656e814054ed1e2fb7fa18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885_1*i*3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ae90038a3e81428195290be0d359e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CHIP_GROUPID" val="5ef2f3acf1c417157da4516a"/>
  <p:tag name="KSO_WM_CHIP_XID" val="5ef2f3acf1c417157da4516b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742"/>
  <p:tag name="KSO_WM_TEMPLATE_ASSEMBLE_XID" val="60656e814054ed1e2fb7fa18"/>
  <p:tag name="KSO_WM_TEMPLATE_ASSEMBLE_GROUPID" val="60656e814054ed1e2fb7fa18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8885_1*i*4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93c9a755b54b10ab4ae84bf190959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a23e674e04214c16b21aca8c69f1f2f5&quot;,&quot;X&quot;:{&quot;Pos&quot;:1},&quot;Y&quot;:{&quot;Pos&quot;:2}},&quot;whChangeMode&quot;:0}"/>
  <p:tag name="KSO_WM_CHIP_GROUPID" val="5ef2f3acf1c417157da4516a"/>
  <p:tag name="KSO_WM_CHIP_XID" val="5ef2f3acf1c417157da4516b"/>
  <p:tag name="KSO_WM_UNIT_LINE_FORE_SCHEMECOLOR_INDEX_BRIGHTNESS" val="-0.15"/>
  <p:tag name="KSO_WM_UNIT_LINE_FORE_SCHEMECOLOR_INDEX" val="14"/>
  <p:tag name="KSO_WM_UNIT_LINE_FILL_TYPE" val="2"/>
  <p:tag name="KSO_WM_TEMPLATE_ASSEMBLE_XID" val="60656e814054ed1e2fb7fa18"/>
  <p:tag name="KSO_WM_TEMPLATE_ASSEMBLE_GROUPID" val="60656e814054ed1e2fb7fa18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8885_1*i*5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d91aba8a2b874fabbdd88a44c808872e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d12cd54847e14031ae4f7bfebf81321b&quot;,&quot;X&quot;:{&quot;Pos&quot;:1},&quot;Y&quot;:{&quot;Pos&quot;:2}},&quot;whChangeMode&quot;:0}"/>
  <p:tag name="KSO_WM_CHIP_GROUPID" val="5ef2f3acf1c417157da4516a"/>
  <p:tag name="KSO_WM_CHIP_XID" val="5ef2f3acf1c417157da4516b"/>
  <p:tag name="KSO_WM_UNIT_LINE_FORE_SCHEMECOLOR_INDEX_BRIGHTNESS" val="-0.15"/>
  <p:tag name="KSO_WM_UNIT_LINE_FORE_SCHEMECOLOR_INDEX" val="14"/>
  <p:tag name="KSO_WM_UNIT_LINE_FILL_TYPE" val="2"/>
  <p:tag name="KSO_WM_TEMPLATE_ASSEMBLE_XID" val="60656e814054ed1e2fb7fa18"/>
  <p:tag name="KSO_WM_TEMPLATE_ASSEMBLE_GROUPID" val="60656e814054ed1e2fb7fa18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8885_1*i*6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56f28face7644a71892f6958bc68651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0},&quot;ReferentInfo&quot;:{&quot;Id&quot;:&quot;2b14aca91c5b43c9a32dcbf8e582a167&quot;,&quot;X&quot;:{&quot;Pos&quot;:2},&quot;Y&quot;:{&quot;Pos&quot;:0}},&quot;whChangeMode&quot;:0}"/>
  <p:tag name="KSO_WM_CHIP_GROUPID" val="5ef2f3acf1c417157da4516a"/>
  <p:tag name="KSO_WM_CHIP_XID" val="5ef2f3acf1c417157da4516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8"/>
  <p:tag name="KSO_WM_TEMPLATE_ASSEMBLE_XID" val="60656e814054ed1e2fb7fa18"/>
  <p:tag name="KSO_WM_TEMPLATE_ASSEMBLE_GROUPID" val="60656e814054ed1e2fb7fa18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885_1*i*7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d3f4c700c32f4b1ba2d89d2946ae68e7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2b14aca91c5b43c9a32dcbf8e582a167&quot;,&quot;X&quot;:{&quot;Pos&quot;:2},&quot;Y&quot;:{&quot;Pos&quot;:0}},&quot;whChangeMode&quot;:0}"/>
  <p:tag name="KSO_WM_CHIP_GROUPID" val="5ef2f3acf1c417157da4516a"/>
  <p:tag name="KSO_WM_CHIP_XID" val="5ef2f3acf1c417157da4516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814054ed1e2fb7fa18"/>
  <p:tag name="KSO_WM_TEMPLATE_ASSEMBLE_GROUPID" val="60656e814054ed1e2fb7fa18"/>
</p:tagLst>
</file>

<file path=ppt/tags/tag1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885_1*f*1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9"/>
  <p:tag name="KSO_WM_UNIT_SHOW_EDIT_AREA_INDICATION" val="1"/>
  <p:tag name="KSO_WM_CHIP_GROUPID" val="5e6b05596848fb12bee65ac8"/>
  <p:tag name="KSO_WM_CHIP_XID" val="5e6b05596848fb12bee65aca"/>
  <p:tag name="KSO_WM_UNIT_DEC_AREA_ID" val="a23e674e04214c16b21aca8c69f1f2f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a7f1b9c65c0d4f748f5bf1db09f69138"/>
  <p:tag name="KSO_WM_UNIT_TEXT_FILL_FORE_SCHEMECOLOR_INDEX_BRIGHTNESS" val="0.25"/>
  <p:tag name="KSO_WM_UNIT_TEXT_FILL_FORE_SCHEMECOLOR_INDEX" val="13"/>
  <p:tag name="KSO_WM_UNIT_TEXT_FILL_TYPE" val="1"/>
  <p:tag name="KSO_WM_TEMPLATE_ASSEMBLE_XID" val="60656e814054ed1e2fb7fa18"/>
  <p:tag name="KSO_WM_TEMPLATE_ASSEMBLE_GROUPID" val="60656e814054ed1e2fb7fa18"/>
</p:tagLst>
</file>

<file path=ppt/tags/tag1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diagram20208885_1*f*3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9"/>
  <p:tag name="KSO_WM_UNIT_SHOW_EDIT_AREA_INDICATION" val="1"/>
  <p:tag name="KSO_WM_CHIP_GROUPID" val="5e6b05596848fb12bee65ac8"/>
  <p:tag name="KSO_WM_CHIP_XID" val="5e6b05596848fb12bee65aca"/>
  <p:tag name="KSO_WM_UNIT_DEC_AREA_ID" val="d12cd54847e14031ae4f7bfebf8132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c204f2adec7490789a143bb6b2a93d9"/>
  <p:tag name="KSO_WM_UNIT_TEXT_FILL_FORE_SCHEMECOLOR_INDEX_BRIGHTNESS" val="0.25"/>
  <p:tag name="KSO_WM_UNIT_TEXT_FILL_FORE_SCHEMECOLOR_INDEX" val="13"/>
  <p:tag name="KSO_WM_UNIT_TEXT_FILL_TYPE" val="1"/>
  <p:tag name="KSO_WM_TEMPLATE_ASSEMBLE_XID" val="60656e814054ed1e2fb7fa18"/>
  <p:tag name="KSO_WM_TEMPLATE_ASSEMBLE_GROUPID" val="60656e814054ed1e2fb7fa18"/>
</p:tagLst>
</file>

<file path=ppt/tags/tag18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您的正文已经经简明扼要，字字珠玑，但信息却千丝万缕、错综复杂，需要用更多。"/>
  <p:tag name="KSO_WM_UNIT_NOCLEAR" val="1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261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6cf78cdb-0f80-4309-87c8-edf02d5a31da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885_1*a*1"/>
  <p:tag name="KSO_WM_TEMPLATE_CATEGORY" val="diagram"/>
  <p:tag name="KSO_WM_TEMPLATE_INDEX" val="2020888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b14aca91c5b43c9a32dcbf8e582a1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dd5f615462945ab9bc85a11f3bf51cd"/>
  <p:tag name="KSO_WM_UNIT_TEXT_FILL_FORE_SCHEMECOLOR_INDEX_BRIGHTNESS" val="0"/>
  <p:tag name="KSO_WM_UNIT_TEXT_FILL_FORE_SCHEMECOLOR_INDEX" val="13"/>
  <p:tag name="KSO_WM_UNIT_TEXT_FILL_TYPE" val="1"/>
  <p:tag name="KSO_WM_TEMPLATE_ASSEMBLE_XID" val="60656e814054ed1e2fb7fa18"/>
  <p:tag name="KSO_WM_TEMPLATE_ASSEMBLE_GROUPID" val="60656e814054ed1e2fb7fa18"/>
</p:tagLst>
</file>

<file path=ppt/tags/tag20.xml><?xml version="1.0" encoding="utf-8"?>
<p:tagLst xmlns:p="http://schemas.openxmlformats.org/presentationml/2006/main">
  <p:tag name="KSO_WM_SLIDE_LAYOUT_INFO" val="{&quot;id&quot;:&quot;2021-04-01T15:02:39&quot;,&quot;maxSize&quot;:{&quot;size1&quot;:20.1},&quot;minSize&quot;:{&quot;size1&quot;:20.1},&quot;normalSize&quot;:{&quot;size1&quot;:20.1},&quot;subLayout&quot;:[{&quot;id&quot;:&quot;2021-04-01T15:02:39&quot;,&quot;margin&quot;:{&quot;bottom&quot;:0.02600000612437725,&quot;left&quot;:1.2697499990463257,&quot;right&quot;:6.350250244140625,&quot;top&quot;:1.6929999589920044},&quot;type&quot;:0},{&quot;id&quot;:&quot;2021-04-01T15:02:39&quot;,&quot;maxSize&quot;:{&quot;size1&quot;:52.9},&quot;minSize&quot;:{&quot;size1&quot;:16.7},&quot;normalSize&quot;:{&quot;size1&quot;:17.249979140592405},&quot;subLayout&quot;:[{&quot;id&quot;:&quot;2021-04-01T15:02:39&quot;,&quot;margin&quot;:{&quot;bottom&quot;:0.02600000612437725,&quot;left&quot;:1.2697499990463257,&quot;right&quot;:1.2697499990463257,&quot;top&quot;:1.243999719619751},&quot;type&quot;:0},{&quot;id&quot;:&quot;2021-04-01T15:02:39&quot;,&quot;maxSize&quot;:{&quot;size1&quot;:52.1},&quot;minSize&quot;:{&quot;size1&quot;:8},&quot;normalSize&quot;:{&quot;size1&quot;:17.497734731925817},&quot;subLayout&quot;:[{&quot;id&quot;:&quot;2021-04-01T15:02:39&quot;,&quot;margin&quot;:{&quot;bottom&quot;:0.02600000612437725,&quot;left&quot;:1.2697499990463257,&quot;right&quot;:1.2697499990463257,&quot;top&quot;:0.847000002861023},&quot;type&quot;:0},{&quot;id&quot;:&quot;2021-04-01T15:02:39&quot;,&quot;margin&quot;:{&quot;bottom&quot;:2.117000102996826,&quot;left&quot;:1.2697499990463257,&quot;right&quot;:1.2697499990463257,&quot;top&quot;:0.847000002861023},&quot;type&quot;:0}],&quot;type&quot;:0}],&quot;type&quot;:0}],&quot;type&quot;:0}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false,&quot;picture_toward&quot;:0,&quot;picture_dockside&quot;:[],&quot;fill_id&quot;:&quot;c39e9390dcfc4964a70b2c18282187f5&quot;,&quot;fill_align&quot;:&quot;lm&quot;,&quot;chip_types&quot;:[&quot;text&quot;]},{&quot;text_align&quot;:&quot;lm&quot;,&quot;text_direction&quot;:&quot;horizontal&quot;,&quot;support_big_font&quot;:false,&quot;picture_toward&quot;:0,&quot;picture_dockside&quot;:[],&quot;fill_id&quot;:&quot;cbb681bbc988444cb53b30fdf189fad8&quot;,&quot;fill_align&quot;:&quot;lm&quot;,&quot;chip_types&quot;:[&quot;text&quot;]},{&quot;text_align&quot;:&quot;lm&quot;,&quot;text_direction&quot;:&quot;horizontal&quot;,&quot;support_big_font&quot;:false,&quot;picture_toward&quot;:0,&quot;picture_dockside&quot;:[],&quot;fill_id&quot;:&quot;a67cabd447714c2c81e7731059b8244b&quot;,&quot;fill_align&quot;:&quot;lm&quot;,&quot;chip_types&quot;:[&quot;text&quot;]},{&quot;text_align&quot;:&quot;lm&quot;,&quot;text_direction&quot;:&quot;horizontal&quot;,&quot;support_big_font&quot;:false,&quot;picture_toward&quot;:0,&quot;picture_dockside&quot;:[],&quot;fill_id&quot;:&quot;4036af0485484fa6861783839667c731&quot;,&quot;fill_align&quot;:&quot;lm&quot;,&quot;chip_types&quot;:[&quot;header&quot;]}]]"/>
  <p:tag name="KSO_WM_SLIDE_ID" val="diagram2020888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8885"/>
  <p:tag name="KSO_WM_SLIDE_LAYOUT" val="a_f"/>
  <p:tag name="KSO_WM_SLIDE_LAYOUT_CNT" val="1_3"/>
  <p:tag name="KSO_WM_CHIP_XID" val="5ef2f3acf1c417157da4516b"/>
  <p:tag name="KSO_WM_SLIDE_TYPE" val="text"/>
  <p:tag name="KSO_WM_SLIDE_SUBTYPE" val="pureTxt"/>
  <p:tag name="KSO_WM_SLIDE_SIZE" val="960*468"/>
  <p:tag name="KSO_WM_SLIDE_POSITION" val="0*36"/>
  <p:tag name="KSO_WM_SLIDE_CAN_ADD_NAVIGATION" val="1"/>
  <p:tag name="KSO_WM_CHIP_DECFILLPROP" val="[]"/>
  <p:tag name="KSO_WM_CHIP_GROUPID" val="5ef2f3acf1c417157da4516a"/>
  <p:tag name="KSO_WM_SLIDE_BK_DARK_LIGHT" val="2"/>
  <p:tag name="KSO_WM_SLIDE_BACKGROUND_TYPE" val="general"/>
  <p:tag name="KSO_WM_SLIDE_SUPPORT_FEATURE_TYPE" val="0"/>
  <p:tag name="KSO_WM_TEMPLATE_ASSEMBLE_XID" val="60656e814054ed1e2fb7fa18"/>
  <p:tag name="KSO_WM_TEMPLATE_ASSEMBLE_GROUPID" val="60656e814054ed1e2fb7fa18"/>
</p:tagLst>
</file>

<file path=ppt/tags/tag21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您的正文已经经简明扼要，字字珠玑，但信息却千丝万缕、错综复杂，需要用更多。"/>
  <p:tag name="KSO_WM_UNIT_NOCLEAR" val="1"/>
  <p:tag name="KSO_WM_UNIT_VALUE" val="9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145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456938b8-c4a3-406e-a85f-a741e9a5a57b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1861_1*a*1"/>
  <p:tag name="KSO_WM_TEMPLATE_CATEGORY" val="diagram"/>
  <p:tag name="KSO_WM_TEMPLATE_INDEX" val="2021186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ec7b3f0de52142a8b8f624125c18a01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70cb609e49944ca83b9967802a6992d"/>
  <p:tag name="KSO_WM_UNIT_TEXT_FILL_FORE_SCHEMECOLOR_INDEX_BRIGHTNESS" val="0"/>
  <p:tag name="KSO_WM_UNIT_TEXT_FILL_FORE_SCHEMECOLOR_INDEX" val="13"/>
  <p:tag name="KSO_WM_UNIT_TEXT_FILL_TYPE" val="1"/>
  <p:tag name="KSO_WM_TEMPLATE_ASSEMBLE_XID" val="60656f2b4054ed1e2fb804d4"/>
  <p:tag name="KSO_WM_TEMPLATE_ASSEMBLE_GROUPID" val="60656f2b4054ed1e2fb804d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861_1*i*1"/>
  <p:tag name="KSO_WM_TEMPLATE_CATEGORY" val="diagram"/>
  <p:tag name="KSO_WM_TEMPLATE_INDEX" val="2021186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cb3ebfa2322b483383e2258f34585412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0},&quot;ReferentInfo&quot;:{&quot;Id&quot;:&quot;ec7b3f0de52142a8b8f624125c18a01d&quot;,&quot;X&quot;:{&quot;Pos&quot;:1},&quot;Y&quot;:{&quot;Pos&quot;:2}},&quot;whChangeMode&quot;:0}"/>
  <p:tag name="KSO_WM_CHIP_GROUPID" val="5f0e73c28050c250ba65b219"/>
  <p:tag name="KSO_WM_CHIP_XID" val="5f631d070e9bcbd1695b17d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3"/>
  <p:tag name="KSO_WM_TEMPLATE_ASSEMBLE_XID" val="60656f2b4054ed1e2fb804d4"/>
  <p:tag name="KSO_WM_TEMPLATE_ASSEMBLE_GROUPID" val="60656f2b4054ed1e2fb804d4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小标题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11861_1*h_a*2_1"/>
  <p:tag name="KSO_WM_TEMPLATE_CATEGORY" val="diagram"/>
  <p:tag name="KSO_WM_TEMPLATE_INDEX" val="20211861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385aca32c0b449f6aca5fbb0a22ebdb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6b2d0c557f3b4b99b652b6b51b5b1712"/>
  <p:tag name="KSO_WM_UNIT_TEXT_FILL_FORE_SCHEMECOLOR_INDEX_BRIGHTNESS" val="0"/>
  <p:tag name="KSO_WM_UNIT_TEXT_FILL_FORE_SCHEMECOLOR_INDEX" val="13"/>
  <p:tag name="KSO_WM_UNIT_TEXT_FILL_TYPE" val="1"/>
  <p:tag name="KSO_WM_TEMPLATE_ASSEMBLE_XID" val="60656f2b4054ed1e2fb804d4"/>
  <p:tag name="KSO_WM_TEMPLATE_ASSEMBLE_GROUPID" val="60656f2b4054ed1e2fb804d4"/>
</p:tagLst>
</file>

<file path=ppt/tags/tag25.xml><?xml version="1.0" encoding="utf-8"?>
<p:tagLst xmlns:p="http://schemas.openxmlformats.org/presentationml/2006/main">
  <p:tag name="KSO_WM_UNIT_TEX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11861_1*h_f*2_1"/>
  <p:tag name="KSO_WM_TEMPLATE_CATEGORY" val="diagram"/>
  <p:tag name="KSO_WM_TEMPLATE_INDEX" val="20211861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160"/>
  <p:tag name="KSO_WM_UNIT_SHOW_EDIT_AREA_INDICATION" val="1"/>
  <p:tag name="KSO_WM_CHIP_GROUPID" val="5e6b05b36848fb12bee65ad8"/>
  <p:tag name="KSO_WM_CHIP_XID" val="5e6b05b36848fb12bee65ada"/>
  <p:tag name="KSO_WM_UNIT_DEC_AREA_ID" val="21b7d3418b27427abcc4c1ab5bf105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6b2d0c557f3b4b99b652b6b51b5b1712"/>
  <p:tag name="KSO_WM_UNIT_TEXT_FILL_FORE_SCHEMECOLOR_INDEX_BRIGHTNESS" val="0.25"/>
  <p:tag name="KSO_WM_UNIT_TEXT_FILL_FORE_SCHEMECOLOR_INDEX" val="13"/>
  <p:tag name="KSO_WM_UNIT_TEXT_FILL_TYPE" val="1"/>
  <p:tag name="KSO_WM_TEMPLATE_ASSEMBLE_XID" val="60656f2b4054ed1e2fb804d4"/>
  <p:tag name="KSO_WM_TEMPLATE_ASSEMBLE_GROUPID" val="60656f2b4054ed1e2fb804d4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小标题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11861_1*h_a*1_1"/>
  <p:tag name="KSO_WM_TEMPLATE_CATEGORY" val="diagram"/>
  <p:tag name="KSO_WM_TEMPLATE_INDEX" val="20211861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c045160ff25b49a892c39c6ca7b80f7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f06abe8320a465d89fc11be37e3bb5c"/>
  <p:tag name="KSO_WM_UNIT_TEXT_FILL_FORE_SCHEMECOLOR_INDEX_BRIGHTNESS" val="0"/>
  <p:tag name="KSO_WM_UNIT_TEXT_FILL_FORE_SCHEMECOLOR_INDEX" val="13"/>
  <p:tag name="KSO_WM_UNIT_TEXT_FILL_TYPE" val="1"/>
  <p:tag name="KSO_WM_TEMPLATE_ASSEMBLE_XID" val="60656f2b4054ed1e2fb804d4"/>
  <p:tag name="KSO_WM_TEMPLATE_ASSEMBLE_GROUPID" val="60656f2b4054ed1e2fb804d4"/>
</p:tagLst>
</file>

<file path=ppt/tags/tag27.xml><?xml version="1.0" encoding="utf-8"?>
<p:tagLst xmlns:p="http://schemas.openxmlformats.org/presentationml/2006/main">
  <p:tag name="KSO_WM_UNIT_TEX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11861_1*h_f*1_1"/>
  <p:tag name="KSO_WM_TEMPLATE_CATEGORY" val="diagram"/>
  <p:tag name="KSO_WM_TEMPLATE_INDEX" val="20211861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160"/>
  <p:tag name="KSO_WM_UNIT_SHOW_EDIT_AREA_INDICATION" val="1"/>
  <p:tag name="KSO_WM_CHIP_GROUPID" val="5e6b05b36848fb12bee65ad8"/>
  <p:tag name="KSO_WM_CHIP_XID" val="5e6b05b36848fb12bee65ada"/>
  <p:tag name="KSO_WM_UNIT_DEC_AREA_ID" val="2de735e3f84047a5a1b2bfd613e2f63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f06abe8320a465d89fc11be37e3bb5c"/>
  <p:tag name="KSO_WM_UNIT_TEXT_FILL_FORE_SCHEMECOLOR_INDEX_BRIGHTNESS" val="0.25"/>
  <p:tag name="KSO_WM_UNIT_TEXT_FILL_FORE_SCHEMECOLOR_INDEX" val="13"/>
  <p:tag name="KSO_WM_UNIT_TEXT_FILL_TYPE" val="1"/>
  <p:tag name="KSO_WM_TEMPLATE_ASSEMBLE_XID" val="60656f2b4054ed1e2fb804d4"/>
  <p:tag name="KSO_WM_TEMPLATE_ASSEMBLE_GROUPID" val="60656f2b4054ed1e2fb804d4"/>
</p:tagLst>
</file>

<file path=ppt/tags/tag28.xml><?xml version="1.0" encoding="utf-8"?>
<p:tagLst xmlns:p="http://schemas.openxmlformats.org/presentationml/2006/main">
  <p:tag name="KSO_WM_SLIDE_ID" val="diagram20211861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63.949*252.7"/>
  <p:tag name="KSO_WM_SLIDE_POSITION" val="48*215.3"/>
  <p:tag name="KSO_WM_TAG_VERSION" val="1.0"/>
  <p:tag name="KSO_WM_BEAUTIFY_FLAG" val="#wm#"/>
  <p:tag name="KSO_WM_TEMPLATE_CATEGORY" val="diagram"/>
  <p:tag name="KSO_WM_TEMPLATE_INDEX" val="20211861"/>
  <p:tag name="KSO_WM_SLIDE_LAYOUT" val="a_h"/>
  <p:tag name="KSO_WM_SLIDE_LAYOUT_CNT" val="1_2"/>
  <p:tag name="KSO_WM_SLIDE_LAYOUT_INFO" val="{&quot;id&quot;:&quot;2021-04-01T15:32:04&quot;,&quot;maxSize&quot;:{&quot;size1&quot;:26.7},&quot;minSize&quot;:{&quot;size1&quot;:20},&quot;normalSize&quot;:{&quot;size1&quot;:20.00018518518518},&quot;subLayout&quot;:[{&quot;id&quot;:&quot;2021-04-01T15:32:04&quot;,&quot;margin&quot;:{&quot;bottom&quot;:0.02600000612437725,&quot;left&quot;:1.2697499990463257,&quot;right&quot;:1.2697499990463257,&quot;top&quot;:1.6929999589920044},&quot;type&quot;:0},{&quot;direction&quot;:1,&quot;id&quot;:&quot;2021-04-01T15:32:04&quot;,&quot;maxSize&quot;:{&quot;size1&quot;:67.5},&quot;minSize&quot;:{&quot;size1&quot;:45},&quot;normalSize&quot;:{&quot;size1&quot;:49.150104166666665},&quot;subLayout&quot;:[{&quot;id&quot;:&quot;2021-04-01T15:32:04&quot;,&quot;margin&quot;:{&quot;bottom&quot;:1.6929999589920044,&quot;left&quot;:1.2697499990463257,&quot;right&quot;:0.9329997897148132,&quot;top&quot;:1.6670000553131104},&quot;maxSize&quot;:{&quot;size1&quot;:37.40637337887455},&quot;minSize&quot;:{&quot;size1&quot;:21.506373378874546},&quot;normalSize&quot;:{&quot;size1&quot;:31.08301338818745},&quot;subLayout&quot;:[{&quot;id&quot;:&quot;2021-04-01T15:32:04&quot;,&quot;margin&quot;:{&quot;bottom&quot;:0.04693005979061127,&quot;left&quot;:1.2697499990463257,&quot;right&quot;:0.9329997897148132,&quot;top&quot;:1.6670000553131104},&quot;type&quot;:0},{&quot;id&quot;:&quot;2021-04-01T15:32:04&quot;,&quot;margin&quot;:{&quot;bottom&quot;:1.6929999589920044,&quot;left&quot;:1.2697499990463257,&quot;right&quot;:0.9329997897148132,&quot;top&quot;:0.14886118471622467},&quot;type&quot;:0}],&quot;type&quot;:0},{&quot;id&quot;:&quot;2021-04-01T15:32:04&quot;,&quot;margin&quot;:{&quot;bottom&quot;:1.6929999589920044,&quot;left&quot;:0.01950000412762165,&quot;right&quot;:1.2697499990463257,&quot;top&quot;:1.6670000553131104},&quot;maxSize&quot;:{&quot;size1&quot;:37.40637337887455},&quot;minSize&quot;:{&quot;size1&quot;:21.506373378874546},&quot;normalSize&quot;:{&quot;size1&quot;:21.50637337887455},&quot;subLayout&quot;:[{&quot;id&quot;:&quot;2021-04-01T15:32:04&quot;,&quot;margin&quot;:{&quot;bottom&quot;:0.04693005979061127,&quot;left&quot;:0.01950000412762165,&quot;right&quot;:1.2697499990463257,&quot;top&quot;:1.6670000553131104},&quot;type&quot;:0},{&quot;id&quot;:&quot;2021-04-01T15:32:04&quot;,&quot;margin&quot;:{&quot;bottom&quot;:1.6929999589920044,&quot;left&quot;:0.01950000412762165,&quot;right&quot;:1.2697499990463257,&quot;top&quot;:0.14886118471622467},&quot;type&quot;:0}],&quot;type&quot;:0}],&quot;type&quot;:0}],&quot;type&quot;:0}"/>
  <p:tag name="KSO_WM_SLIDE_CAN_ADD_NAVIGATION" val="1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31d070e9bcbd1695b17db"/>
  <p:tag name="KSO_WM_CHIP_FILLPROP" val="[[{&quot;text_align&quot;:&quot;lt&quot;,&quot;text_direction&quot;:&quot;horizontal&quot;,&quot;support_big_font&quot;:false,&quot;picture_toward&quot;:0,&quot;picture_dockside&quot;:[],&quot;fill_id&quot;:&quot;c4cbc9b2fced405c9fc7a719d189a8f1&quot;,&quot;fill_align&quot;:&quot;lt&quot;,&quot;chip_types&quot;:[&quot;header&quot;]},{&quot;text_align&quot;:&quot;lt&quot;,&quot;text_direction&quot;:&quot;horizontal&quot;,&quot;support_features&quot;:[&quot;collage&quot;],&quot;support_big_font&quot;:false,&quot;picture_toward&quot;:0,&quot;picture_dockside&quot;:[],&quot;fill_id&quot;:&quot;703630537a544035acf5de6956828d87&quot;,&quot;fill_align&quot;:&quot;cm&quot;,&quot;chip_types&quot;:[&quot;diagram&quot;,&quot;text&quot;,&quot;picture&quot;,&quot;chart&quot;,&quot;table&quot;,&quot;video&quot;]},{&quot;text_align&quot;:&quot;lt&quot;,&quot;text_direction&quot;:&quot;horizontal&quot;,&quot;support_big_font&quot;:false,&quot;picture_toward&quot;:0,&quot;picture_dockside&quot;:[],&quot;fill_id&quot;:&quot;b407b34b201641d49d75be095b5a3ec9&quot;,&quot;fill_align&quot;:&quot;cm&quot;,&quot;chip_types&quot;:[&quot;text&quot;,&quot;picture&quot;,&quot;chart&quot;]}]]"/>
  <p:tag name="KSO_WM_CHIP_DECFILLPROP" val="[]"/>
  <p:tag name="KSO_WM_CHIP_GROUPID" val="5f0e73c28050c250ba65b219"/>
  <p:tag name="KSO_WM_SLIDE_BK_DARK_LIGHT" val="2"/>
  <p:tag name="KSO_WM_SLIDE_BACKGROUND_TYPE" val="general"/>
  <p:tag name="KSO_WM_SLIDE_SUPPORT_FEATURE_TYPE" val="0"/>
  <p:tag name="KSO_WM_TEMPLATE_ASSEMBLE_XID" val="60656f2b4054ed1e2fb804d4"/>
  <p:tag name="KSO_WM_TEMPLATE_ASSEMBLE_GROUPID" val="60656f2b4054ed1e2fb804d4"/>
</p:tagLst>
</file>

<file path=ppt/tags/tag29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点击此处添加正文，文字是您思想的提炼，为了演示发布的良好效果，请言简意赅的阐述您的观点。"/>
  <p:tag name="KSO_WM_UNIT_NOCLEAR" val="1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107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250ad39a-2b40-4b5c-af25-4e7d98e28dc3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点击此处添加正文，文字是您思想的提炼，为了演示发布的良好效果，请言简意赅的阐述您的观点。"/>
  <p:tag name="KSO_WM_UNIT_NOCLEAR" val="1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107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c17eff27-ba13-41c4-b28b-a8efd59a7b65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点击此处添加正文，文字是您思想的提炼，为了演示发布的良好效果，请言简意赅的阐述您的观点。"/>
  <p:tag name="KSO_WM_UNIT_NOCLEAR" val="1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108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b2186793-ff63-4982-9c02-6f44849e1a65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点击此处添加正文，文字是您思想的提炼，为了演示发布的良好效果，请言简意赅的阐述您的观点。"/>
  <p:tag name="KSO_WM_UNIT_NOCLEAR" val="1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108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e5d06b87-80d4-4d64-a47e-63ef8d8573a3}"/>
  <p:tag name="KSO_WM_UNIT_TEXTBOXSTYLE_TYPE" val="8"/>
  <p:tag name="KSO_WM_UNIT_TEXT_FILL_FORE_SCHEMECOLOR_INDEX_BRIGHTNESS" val="0.2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3407</Words>
  <Application>WPS 演示</Application>
  <PresentationFormat>On-screen Show (4:3)</PresentationFormat>
  <Paragraphs>307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Wingdings</vt:lpstr>
      <vt:lpstr>Segoe UI</vt:lpstr>
      <vt:lpstr>Wingdings 3</vt:lpstr>
      <vt:lpstr>Symbol</vt:lpstr>
      <vt:lpstr>Arial Unicode MS</vt:lpstr>
      <vt:lpstr>Calibri</vt:lpstr>
      <vt:lpstr>DFHSGothic-W3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=^_^=</cp:lastModifiedBy>
  <cp:revision>5</cp:revision>
  <dcterms:created xsi:type="dcterms:W3CDTF">2013-01-27T09:14:00Z</dcterms:created>
  <dcterms:modified xsi:type="dcterms:W3CDTF">2026-05-31T08:47:26Z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E301EE3A619948A8BDAA3F100CF0D4E4_12</vt:lpwstr>
  </property>
  <property fmtid="{D5CDD505-2E9C-101B-9397-08002B2CF9AE}" pid="3" name="KSOProductBuildVer">
    <vt:lpwstr>2052-12.1.0.26375</vt:lpwstr>
  </property>
</Properties>
</file>